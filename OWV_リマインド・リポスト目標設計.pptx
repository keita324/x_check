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表紙" id="{4f168776-8e92-6062-5ec8-c4a1ccb355b4}">
          <p14:sldIdLst>
            <p14:sldId id="256"/>
          </p14:sldIdLst>
        </p14:section>
        <p14:section name="サマリー" id="{31719653-3f27-8527-2868-e3c70b8ca5a8}">
          <p14:sldIdLst>
            <p14:sldId id="257"/>
          </p14:sldIdLst>
        </p14:section>
        <p14:section name="井上尚弥CP 振り返り" id="{4841732d-fd3c-1a5a-ca36-8eed31180e50}">
          <p14:sldIdLst>
            <p14:sldId id="258"/>
            <p14:sldId id="259"/>
          </p14:sldIdLst>
        </p14:section>
        <p14:section name="設計の根拠" id="{fb5db77d-66fc-a456-5945-5e03870730e9}">
          <p14:sldIdLst>
            <p14:sldId id="260"/>
            <p14:sldId id="261"/>
          </p14:sldIdLst>
        </p14:section>
        <p14:section name="OWV CP 設計" id="{b17e966d-4c25-b3ba-d83d-2866d30cb550}">
          <p14:sldIdLst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2222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22222"/>
                </a:solidFill>
                <a:latin typeface="+mn-lt"/>
              </a:rPr>
              <a:t>日別 リポスト数・新しいフォロー数（10/14〜10/26）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リポスト</c:v>
                </c:pt>
              </c:strCache>
            </c:strRef>
          </c:tx>
          <c:spPr>
            <a:solidFill>
              <a:srgbClr val="40404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04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10/14</c:v>
                  </c:pt>
                  <c:pt idx="1">
                    <c:v>10/15</c:v>
                  </c:pt>
                  <c:pt idx="2">
                    <c:v>10/16</c:v>
                  </c:pt>
                  <c:pt idx="3">
                    <c:v>10/17</c:v>
                  </c:pt>
                  <c:pt idx="4">
                    <c:v>10/18</c:v>
                  </c:pt>
                  <c:pt idx="5">
                    <c:v>10/19</c:v>
                  </c:pt>
                  <c:pt idx="6">
                    <c:v>10/20</c:v>
                  </c:pt>
                  <c:pt idx="7">
                    <c:v>10/21</c:v>
                  </c:pt>
                  <c:pt idx="8">
                    <c:v>10/22</c:v>
                  </c:pt>
                  <c:pt idx="9">
                    <c:v>10/23</c:v>
                  </c:pt>
                  <c:pt idx="10">
                    <c:v>10/24</c:v>
                  </c:pt>
                  <c:pt idx="11">
                    <c:v>10/25</c:v>
                  </c:pt>
                  <c:pt idx="12">
                    <c:v>10/26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509</c:v>
                </c:pt>
                <c:pt idx="1">
                  <c:v>40</c:v>
                </c:pt>
                <c:pt idx="2">
                  <c:v>20</c:v>
                </c:pt>
                <c:pt idx="3">
                  <c:v>10</c:v>
                </c:pt>
                <c:pt idx="4">
                  <c:v>12</c:v>
                </c:pt>
                <c:pt idx="5">
                  <c:v>8</c:v>
                </c:pt>
                <c:pt idx="6">
                  <c:v>5</c:v>
                </c:pt>
                <c:pt idx="7">
                  <c:v>5</c:v>
                </c:pt>
                <c:pt idx="8">
                  <c:v>25</c:v>
                </c:pt>
                <c:pt idx="9">
                  <c:v>70</c:v>
                </c:pt>
                <c:pt idx="10">
                  <c:v>30</c:v>
                </c:pt>
                <c:pt idx="11">
                  <c:v>15</c:v>
                </c:pt>
                <c:pt idx="12">
                  <c:v>150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新しいフォロー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04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10/14</c:v>
                  </c:pt>
                  <c:pt idx="1">
                    <c:v>10/15</c:v>
                  </c:pt>
                  <c:pt idx="2">
                    <c:v>10/16</c:v>
                  </c:pt>
                  <c:pt idx="3">
                    <c:v>10/17</c:v>
                  </c:pt>
                  <c:pt idx="4">
                    <c:v>10/18</c:v>
                  </c:pt>
                  <c:pt idx="5">
                    <c:v>10/19</c:v>
                  </c:pt>
                  <c:pt idx="6">
                    <c:v>10/20</c:v>
                  </c:pt>
                  <c:pt idx="7">
                    <c:v>10/21</c:v>
                  </c:pt>
                  <c:pt idx="8">
                    <c:v>10/22</c:v>
                  </c:pt>
                  <c:pt idx="9">
                    <c:v>10/23</c:v>
                  </c:pt>
                  <c:pt idx="10">
                    <c:v>10/24</c:v>
                  </c:pt>
                  <c:pt idx="11">
                    <c:v>10/25</c:v>
                  </c:pt>
                  <c:pt idx="12">
                    <c:v>10/26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463</c:v>
                </c:pt>
                <c:pt idx="1">
                  <c:v>15</c:v>
                </c:pt>
                <c:pt idx="2">
                  <c:v>8</c:v>
                </c:pt>
                <c:pt idx="3">
                  <c:v>8</c:v>
                </c:pt>
                <c:pt idx="4">
                  <c:v>6</c:v>
                </c:pt>
                <c:pt idx="5">
                  <c:v>3</c:v>
                </c:pt>
                <c:pt idx="6">
                  <c:v>3</c:v>
                </c:pt>
                <c:pt idx="7">
                  <c:v>3</c:v>
                </c:pt>
                <c:pt idx="8">
                  <c:v>10</c:v>
                </c:pt>
                <c:pt idx="9">
                  <c:v>5</c:v>
                </c:pt>
                <c:pt idx="10">
                  <c:v>10</c:v>
                </c:pt>
                <c:pt idx="11">
                  <c:v>8</c:v>
                </c:pt>
                <c:pt idx="12">
                  <c:v>120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04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0"/>
        </c:scaling>
        <c:delete val="0"/>
        <c:axPos val="l"/>
        <c:majorGridlines>
          <c:spPr>
            <a:ln w="9525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5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2222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22222"/>
                </a:solidFill>
                <a:latin typeface="+mn-lt"/>
              </a:rPr>
              <a:t>最初の48時間　1時間ごとのインプレッション（K）と累計割合（%）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インプレッション（K）</c:v>
                </c:pt>
              </c:strCache>
            </c:strRef>
          </c:tx>
          <c:spPr>
            <a:solidFill>
              <a:srgbClr val="59595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Sheet1!$A$2:$A$49</c:f>
              <c:multiLvlStrCache>
                <c:ptCount val="48"/>
                <c:lvl>
                  <c:pt idx="0">
                    <c:v>0h</c:v>
                  </c:pt>
                  <c:pt idx="1">
                    <c:v>1h</c:v>
                  </c:pt>
                  <c:pt idx="2">
                    <c:v>2h</c:v>
                  </c:pt>
                  <c:pt idx="3">
                    <c:v>3h</c:v>
                  </c:pt>
                  <c:pt idx="4">
                    <c:v>4h</c:v>
                  </c:pt>
                  <c:pt idx="5">
                    <c:v>5h</c:v>
                  </c:pt>
                  <c:pt idx="6">
                    <c:v>6h</c:v>
                  </c:pt>
                  <c:pt idx="7">
                    <c:v>7h</c:v>
                  </c:pt>
                  <c:pt idx="8">
                    <c:v>8h</c:v>
                  </c:pt>
                  <c:pt idx="9">
                    <c:v>9h</c:v>
                  </c:pt>
                  <c:pt idx="10">
                    <c:v>10h</c:v>
                  </c:pt>
                  <c:pt idx="11">
                    <c:v>11h</c:v>
                  </c:pt>
                  <c:pt idx="12">
                    <c:v>12h</c:v>
                  </c:pt>
                  <c:pt idx="13">
                    <c:v>13h</c:v>
                  </c:pt>
                  <c:pt idx="14">
                    <c:v>14h</c:v>
                  </c:pt>
                  <c:pt idx="15">
                    <c:v>15h</c:v>
                  </c:pt>
                  <c:pt idx="16">
                    <c:v>16h</c:v>
                  </c:pt>
                  <c:pt idx="17">
                    <c:v>17h</c:v>
                  </c:pt>
                  <c:pt idx="18">
                    <c:v>18h</c:v>
                  </c:pt>
                  <c:pt idx="19">
                    <c:v>19h</c:v>
                  </c:pt>
                  <c:pt idx="20">
                    <c:v>20h</c:v>
                  </c:pt>
                  <c:pt idx="21">
                    <c:v>21h</c:v>
                  </c:pt>
                  <c:pt idx="22">
                    <c:v>22h</c:v>
                  </c:pt>
                  <c:pt idx="23">
                    <c:v>23h</c:v>
                  </c:pt>
                  <c:pt idx="24">
                    <c:v>24h</c:v>
                  </c:pt>
                  <c:pt idx="25">
                    <c:v>25h</c:v>
                  </c:pt>
                  <c:pt idx="26">
                    <c:v>26h</c:v>
                  </c:pt>
                  <c:pt idx="27">
                    <c:v>27h</c:v>
                  </c:pt>
                  <c:pt idx="28">
                    <c:v>28h</c:v>
                  </c:pt>
                  <c:pt idx="29">
                    <c:v>29h</c:v>
                  </c:pt>
                  <c:pt idx="30">
                    <c:v>30h</c:v>
                  </c:pt>
                  <c:pt idx="31">
                    <c:v>31h</c:v>
                  </c:pt>
                  <c:pt idx="32">
                    <c:v>32h</c:v>
                  </c:pt>
                  <c:pt idx="33">
                    <c:v>33h</c:v>
                  </c:pt>
                  <c:pt idx="34">
                    <c:v>34h</c:v>
                  </c:pt>
                  <c:pt idx="35">
                    <c:v>35h</c:v>
                  </c:pt>
                  <c:pt idx="36">
                    <c:v>36h</c:v>
                  </c:pt>
                  <c:pt idx="37">
                    <c:v>37h</c:v>
                  </c:pt>
                  <c:pt idx="38">
                    <c:v>38h</c:v>
                  </c:pt>
                  <c:pt idx="39">
                    <c:v>39h</c:v>
                  </c:pt>
                  <c:pt idx="40">
                    <c:v>40h</c:v>
                  </c:pt>
                  <c:pt idx="41">
                    <c:v>41h</c:v>
                  </c:pt>
                  <c:pt idx="42">
                    <c:v>42h</c:v>
                  </c:pt>
                  <c:pt idx="43">
                    <c:v>43h</c:v>
                  </c:pt>
                  <c:pt idx="44">
                    <c:v>44h</c:v>
                  </c:pt>
                  <c:pt idx="45">
                    <c:v>45h</c:v>
                  </c:pt>
                  <c:pt idx="46">
                    <c:v>46h</c:v>
                  </c:pt>
                  <c:pt idx="47">
                    <c:v>47h</c:v>
                  </c:pt>
                </c:lvl>
              </c:multiLvlStrCache>
            </c:multiLvlStrRef>
          </c:cat>
          <c:val>
            <c:numRef>
              <c:f>Sheet1!$B$2:$B$49</c:f>
              <c:numCache>
                <c:formatCode>General</c:formatCode>
                <c:ptCount val="48"/>
                <c:pt idx="0">
                  <c:v>1</c:v>
                </c:pt>
                <c:pt idx="1">
                  <c:v>3.9</c:v>
                </c:pt>
                <c:pt idx="2">
                  <c:v>1.6</c:v>
                </c:pt>
                <c:pt idx="3">
                  <c:v>1.3</c:v>
                </c:pt>
                <c:pt idx="4">
                  <c:v>1.15</c:v>
                </c:pt>
                <c:pt idx="5">
                  <c:v>1.05</c:v>
                </c:pt>
                <c:pt idx="6">
                  <c:v>1.05</c:v>
                </c:pt>
                <c:pt idx="7">
                  <c:v>1.2</c:v>
                </c:pt>
                <c:pt idx="8">
                  <c:v>1</c:v>
                </c:pt>
                <c:pt idx="9">
                  <c:v>1.15</c:v>
                </c:pt>
                <c:pt idx="10">
                  <c:v>0.85</c:v>
                </c:pt>
                <c:pt idx="11">
                  <c:v>0.6</c:v>
                </c:pt>
                <c:pt idx="12">
                  <c:v>0.4</c:v>
                </c:pt>
                <c:pt idx="13">
                  <c:v>0.3</c:v>
                </c:pt>
                <c:pt idx="14">
                  <c:v>0.2</c:v>
                </c:pt>
                <c:pt idx="15">
                  <c:v>0.15</c:v>
                </c:pt>
                <c:pt idx="16">
                  <c:v>0.12</c:v>
                </c:pt>
                <c:pt idx="17">
                  <c:v>0.1</c:v>
                </c:pt>
                <c:pt idx="18">
                  <c:v>0.1</c:v>
                </c:pt>
                <c:pt idx="19">
                  <c:v>0.1</c:v>
                </c:pt>
                <c:pt idx="20">
                  <c:v>0.1</c:v>
                </c:pt>
                <c:pt idx="21">
                  <c:v>0.1</c:v>
                </c:pt>
                <c:pt idx="22">
                  <c:v>0.1</c:v>
                </c:pt>
                <c:pt idx="23">
                  <c:v>0.1</c:v>
                </c:pt>
                <c:pt idx="24">
                  <c:v>0.12</c:v>
                </c:pt>
                <c:pt idx="25">
                  <c:v>0.1</c:v>
                </c:pt>
                <c:pt idx="26">
                  <c:v>0.08</c:v>
                </c:pt>
                <c:pt idx="27">
                  <c:v>0.08</c:v>
                </c:pt>
                <c:pt idx="28">
                  <c:v>0.06</c:v>
                </c:pt>
                <c:pt idx="29">
                  <c:v>0.06</c:v>
                </c:pt>
                <c:pt idx="30">
                  <c:v>0.06</c:v>
                </c:pt>
                <c:pt idx="31">
                  <c:v>0.06</c:v>
                </c:pt>
                <c:pt idx="32">
                  <c:v>0.05</c:v>
                </c:pt>
                <c:pt idx="33">
                  <c:v>0.05</c:v>
                </c:pt>
                <c:pt idx="34">
                  <c:v>0.05</c:v>
                </c:pt>
                <c:pt idx="35">
                  <c:v>0.06</c:v>
                </c:pt>
                <c:pt idx="36">
                  <c:v>0.05</c:v>
                </c:pt>
                <c:pt idx="37">
                  <c:v>0.04</c:v>
                </c:pt>
                <c:pt idx="38">
                  <c:v>0.03</c:v>
                </c:pt>
                <c:pt idx="39">
                  <c:v>0.03</c:v>
                </c:pt>
                <c:pt idx="40">
                  <c:v>0.02</c:v>
                </c:pt>
                <c:pt idx="41">
                  <c:v>0.02</c:v>
                </c:pt>
                <c:pt idx="42">
                  <c:v>0.02</c:v>
                </c:pt>
                <c:pt idx="43">
                  <c:v>0.02</c:v>
                </c:pt>
                <c:pt idx="44">
                  <c:v>0.02</c:v>
                </c:pt>
                <c:pt idx="45">
                  <c:v>0.02</c:v>
                </c:pt>
                <c:pt idx="46">
                  <c:v>0.02</c:v>
                </c:pt>
                <c:pt idx="47">
                  <c:v>0.02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累計割合（%）</c:v>
                </c:pt>
              </c:strCache>
            </c:strRef>
          </c:tx>
          <c:spPr>
            <a:solidFill>
              <a:srgbClr val="C8102E"/>
            </a:solidFill>
            <a:ln w="31750" cap="flat">
              <a:solidFill>
                <a:srgbClr val="C810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8102E"/>
              </a:solidFill>
              <a:ln w="9525" cap="flat">
                <a:solidFill>
                  <a:srgbClr val="C810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0h</c:v>
                  </c:pt>
                  <c:pt idx="1">
                    <c:v>1h</c:v>
                  </c:pt>
                  <c:pt idx="2">
                    <c:v>2h</c:v>
                  </c:pt>
                  <c:pt idx="3">
                    <c:v>3h</c:v>
                  </c:pt>
                  <c:pt idx="4">
                    <c:v>4h</c:v>
                  </c:pt>
                  <c:pt idx="5">
                    <c:v>5h</c:v>
                  </c:pt>
                  <c:pt idx="6">
                    <c:v>6h</c:v>
                  </c:pt>
                  <c:pt idx="7">
                    <c:v>7h</c:v>
                  </c:pt>
                  <c:pt idx="8">
                    <c:v>8h</c:v>
                  </c:pt>
                  <c:pt idx="9">
                    <c:v>9h</c:v>
                  </c:pt>
                  <c:pt idx="10">
                    <c:v>10h</c:v>
                  </c:pt>
                  <c:pt idx="11">
                    <c:v>11h</c:v>
                  </c:pt>
                  <c:pt idx="12">
                    <c:v>12h</c:v>
                  </c:pt>
                  <c:pt idx="13">
                    <c:v>13h</c:v>
                  </c:pt>
                  <c:pt idx="14">
                    <c:v>14h</c:v>
                  </c:pt>
                  <c:pt idx="15">
                    <c:v>15h</c:v>
                  </c:pt>
                  <c:pt idx="16">
                    <c:v>16h</c:v>
                  </c:pt>
                  <c:pt idx="17">
                    <c:v>17h</c:v>
                  </c:pt>
                  <c:pt idx="18">
                    <c:v>18h</c:v>
                  </c:pt>
                  <c:pt idx="19">
                    <c:v>19h</c:v>
                  </c:pt>
                  <c:pt idx="20">
                    <c:v>20h</c:v>
                  </c:pt>
                  <c:pt idx="21">
                    <c:v>21h</c:v>
                  </c:pt>
                  <c:pt idx="22">
                    <c:v>22h</c:v>
                  </c:pt>
                  <c:pt idx="23">
                    <c:v>23h</c:v>
                  </c:pt>
                  <c:pt idx="24">
                    <c:v>24h</c:v>
                  </c:pt>
                  <c:pt idx="25">
                    <c:v>25h</c:v>
                  </c:pt>
                  <c:pt idx="26">
                    <c:v>26h</c:v>
                  </c:pt>
                  <c:pt idx="27">
                    <c:v>27h</c:v>
                  </c:pt>
                  <c:pt idx="28">
                    <c:v>28h</c:v>
                  </c:pt>
                  <c:pt idx="29">
                    <c:v>29h</c:v>
                  </c:pt>
                  <c:pt idx="30">
                    <c:v>30h</c:v>
                  </c:pt>
                  <c:pt idx="31">
                    <c:v>31h</c:v>
                  </c:pt>
                  <c:pt idx="32">
                    <c:v>32h</c:v>
                  </c:pt>
                  <c:pt idx="33">
                    <c:v>33h</c:v>
                  </c:pt>
                  <c:pt idx="34">
                    <c:v>34h</c:v>
                  </c:pt>
                  <c:pt idx="35">
                    <c:v>35h</c:v>
                  </c:pt>
                  <c:pt idx="36">
                    <c:v>36h</c:v>
                  </c:pt>
                  <c:pt idx="37">
                    <c:v>37h</c:v>
                  </c:pt>
                  <c:pt idx="38">
                    <c:v>38h</c:v>
                  </c:pt>
                  <c:pt idx="39">
                    <c:v>39h</c:v>
                  </c:pt>
                  <c:pt idx="40">
                    <c:v>40h</c:v>
                  </c:pt>
                  <c:pt idx="41">
                    <c:v>41h</c:v>
                  </c:pt>
                  <c:pt idx="42">
                    <c:v>42h</c:v>
                  </c:pt>
                  <c:pt idx="43">
                    <c:v>43h</c:v>
                  </c:pt>
                  <c:pt idx="44">
                    <c:v>44h</c:v>
                  </c:pt>
                  <c:pt idx="45">
                    <c:v>45h</c:v>
                  </c:pt>
                  <c:pt idx="46">
                    <c:v>46h</c:v>
                  </c:pt>
                  <c:pt idx="47">
                    <c:v>47h</c:v>
                  </c:pt>
                </c:lvl>
              </c:multiLvlStrCache>
            </c:multiLvlStrRef>
          </c:cat>
          <c:val>
            <c:numRef>
              <c:f>Sheet1!$C$2:$C$49</c:f>
              <c:numCache>
                <c:formatCode>General</c:formatCode>
                <c:ptCount val="48"/>
                <c:pt idx="0">
                  <c:v>5</c:v>
                </c:pt>
                <c:pt idx="1">
                  <c:v>26</c:v>
                </c:pt>
                <c:pt idx="2">
                  <c:v>34</c:v>
                </c:pt>
                <c:pt idx="3">
                  <c:v>41</c:v>
                </c:pt>
                <c:pt idx="4">
                  <c:v>47</c:v>
                </c:pt>
                <c:pt idx="5">
                  <c:v>53</c:v>
                </c:pt>
                <c:pt idx="6">
                  <c:v>59</c:v>
                </c:pt>
                <c:pt idx="7">
                  <c:v>65</c:v>
                </c:pt>
                <c:pt idx="8">
                  <c:v>70</c:v>
                </c:pt>
                <c:pt idx="9">
                  <c:v>76</c:v>
                </c:pt>
                <c:pt idx="10">
                  <c:v>81</c:v>
                </c:pt>
                <c:pt idx="11">
                  <c:v>84</c:v>
                </c:pt>
                <c:pt idx="12">
                  <c:v>86</c:v>
                </c:pt>
                <c:pt idx="13">
                  <c:v>88</c:v>
                </c:pt>
                <c:pt idx="14">
                  <c:v>89</c:v>
                </c:pt>
                <c:pt idx="15">
                  <c:v>90</c:v>
                </c:pt>
                <c:pt idx="16">
                  <c:v>90</c:v>
                </c:pt>
                <c:pt idx="17">
                  <c:v>91</c:v>
                </c:pt>
                <c:pt idx="18">
                  <c:v>91</c:v>
                </c:pt>
                <c:pt idx="19">
                  <c:v>92</c:v>
                </c:pt>
                <c:pt idx="20">
                  <c:v>92</c:v>
                </c:pt>
                <c:pt idx="21">
                  <c:v>93</c:v>
                </c:pt>
                <c:pt idx="22">
                  <c:v>93</c:v>
                </c:pt>
                <c:pt idx="23">
                  <c:v>94</c:v>
                </c:pt>
                <c:pt idx="24">
                  <c:v>95</c:v>
                </c:pt>
                <c:pt idx="25">
                  <c:v>95</c:v>
                </c:pt>
                <c:pt idx="26">
                  <c:v>96</c:v>
                </c:pt>
                <c:pt idx="27">
                  <c:v>96</c:v>
                </c:pt>
                <c:pt idx="28">
                  <c:v>96</c:v>
                </c:pt>
                <c:pt idx="29">
                  <c:v>97</c:v>
                </c:pt>
                <c:pt idx="30">
                  <c:v>97</c:v>
                </c:pt>
                <c:pt idx="31">
                  <c:v>97</c:v>
                </c:pt>
                <c:pt idx="32">
                  <c:v>98</c:v>
                </c:pt>
                <c:pt idx="33">
                  <c:v>98</c:v>
                </c:pt>
                <c:pt idx="34">
                  <c:v>98</c:v>
                </c:pt>
                <c:pt idx="35">
                  <c:v>98</c:v>
                </c:pt>
                <c:pt idx="36">
                  <c:v>99</c:v>
                </c:pt>
                <c:pt idx="37">
                  <c:v>99</c:v>
                </c:pt>
                <c:pt idx="38">
                  <c:v>99</c:v>
                </c:pt>
                <c:pt idx="39">
                  <c:v>99</c:v>
                </c:pt>
                <c:pt idx="40">
                  <c:v>99</c:v>
                </c:pt>
                <c:pt idx="41">
                  <c:v>99</c:v>
                </c:pt>
                <c:pt idx="42">
                  <c:v>99</c:v>
                </c:pt>
                <c:pt idx="43">
                  <c:v>100</c:v>
                </c:pt>
                <c:pt idx="44">
                  <c:v>100</c:v>
                </c:pt>
                <c:pt idx="45">
                  <c:v>100</c:v>
                </c:pt>
                <c:pt idx="46">
                  <c:v>100</c:v>
                </c:pt>
                <c:pt idx="47">
                  <c:v>100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"/>
      </c:catAx>
      <c:valAx>
        <c:axId val="2094734552"/>
        <c:scaling>
          <c:orientation val="minMax"/>
          <c:max val="4"/>
          <c:min val="0"/>
        </c:scaling>
        <c:delete val="0"/>
        <c:axPos val="l"/>
        <c:majorGridlines>
          <c:spPr>
            <a:ln w="9525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valAx>
        <c:axId val="2094734553"/>
        <c:scaling>
          <c:orientation val="minMax"/>
          <c:max val="100"/>
          <c:min val="0"/>
        </c:scaling>
        <c:delete val="0"/>
        <c:axPos val="r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C8102E"/>
                </a:solidFill>
                <a:latin typeface="+mn-lt"/>
              </a:defRPr>
            </a:pPr>
            <a:endParaRPr lang="en-US"/>
          </a:p>
        </c:txPr>
        <c:crossAx val="2094734555"/>
        <c:crosses val="max"/>
        <c:crossBetween val="between"/>
        <c:majorUnit val="25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2222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22222"/>
                </a:solidFill>
                <a:latin typeface="+mn-lt"/>
              </a:rPr>
              <a:t>時間帯別 平均ビュー（競合5社・9月）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平均ビュー</c:v>
                </c:pt>
              </c:strCache>
            </c:strRef>
          </c:tx>
          <c:spPr>
            <a:solidFill>
              <a:srgbClr val="59595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0404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9595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9595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8102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9595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95959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09-11時</c:v>
                  </c:pt>
                  <c:pt idx="1">
                    <c:v>12-14時</c:v>
                  </c:pt>
                  <c:pt idx="2">
                    <c:v>15-17時</c:v>
                  </c:pt>
                  <c:pt idx="3">
                    <c:v>18-20時</c:v>
                  </c:pt>
                  <c:pt idx="4">
                    <c:v>21-23時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10792</c:v>
                </c:pt>
                <c:pt idx="1">
                  <c:v>13772</c:v>
                </c:pt>
                <c:pt idx="2">
                  <c:v>23219</c:v>
                </c:pt>
                <c:pt idx="3">
                  <c:v>16218</c:v>
                </c:pt>
                <c:pt idx="4">
                  <c:v>12756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40404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00"/>
        </c:scaling>
        <c:delete val="0"/>
        <c:axPos val="l"/>
        <c:majorGridlines>
          <c:spPr>
            <a:ln w="9525" cap="flat">
              <a:solidFill>
                <a:srgbClr val="E6E6E6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2222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22222"/>
                </a:solidFill>
                <a:latin typeface="+mn-lt"/>
              </a:rPr>
              <a:t>施策別 その日のリポスト数（井上尚弥CP）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リポスト数</c:v>
                </c:pt>
              </c:strCache>
            </c:strRef>
          </c:tx>
          <c:spPr>
            <a:solidFill>
              <a:srgbClr val="D9D9D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0404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D9D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9595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8102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04040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放置日
（10/17〜21平均）</c:v>
                  </c:pt>
                  <c:pt idx="1">
                    <c:v>コンテンツ投稿
（10/23 イベント動画）</c:v>
                  </c:pt>
                  <c:pt idx="2">
                    <c:v>リマインド＋本家RP
（10/26）</c:v>
                  </c:pt>
                  <c:pt idx="3">
                    <c:v>初日
（10/14）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</c:v>
                </c:pt>
                <c:pt idx="1">
                  <c:v>70</c:v>
                </c:pt>
                <c:pt idx="2">
                  <c:v>150</c:v>
                </c:pt>
                <c:pt idx="3">
                  <c:v>509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40404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0"/>
        </c:scaling>
        <c:delete val="0"/>
        <c:axPos val="l"/>
        <c:majorGridlines>
          <c:spPr>
            <a:ln w="9525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5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2222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22222"/>
                </a:solidFill>
                <a:latin typeface="+mn-lt"/>
              </a:rPr>
              <a:t>解禁ライン（赤）と井上CP実績（グレー）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リポスト数</c:v>
                </c:pt>
              </c:strCache>
            </c:strRef>
          </c:tx>
          <c:spPr>
            <a:solidFill>
              <a:srgbClr val="D9D9D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0404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D9D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D9D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8102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8102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8102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8102E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井上CP
初日</c:v>
                  </c:pt>
                  <c:pt idx="1">
                    <c:v>井上CP
合計</c:v>
                  </c:pt>
                  <c:pt idx="2">
                    <c:v>第1弾</c:v>
                  </c:pt>
                  <c:pt idx="3">
                    <c:v>第2弾</c:v>
                  </c:pt>
                  <c:pt idx="4">
                    <c:v>第3弾</c:v>
                  </c:pt>
                  <c:pt idx="5">
                    <c:v>第4弾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509</c:v>
                </c:pt>
                <c:pt idx="1">
                  <c:v>696</c:v>
                </c:pt>
                <c:pt idx="2">
                  <c:v>300</c:v>
                </c:pt>
                <c:pt idx="3">
                  <c:v>700</c:v>
                </c:pt>
                <c:pt idx="4">
                  <c:v>1200</c:v>
                </c:pt>
                <c:pt idx="5">
                  <c:v>2000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40404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0"/>
        </c:scaling>
        <c:delete val="0"/>
        <c:axPos val="l"/>
        <c:majorGridlines>
          <c:spPr>
            <a:ln w="9525" cap="flat">
              <a:solidFill>
                <a:srgbClr val="E6E6E6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2222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22222"/>
                </a:solidFill>
                <a:latin typeface="+mn-lt"/>
              </a:rPr>
              <a:t>累計リポスト数の想定（11/16〜12/12）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計画どおり運用</c:v>
                </c:pt>
              </c:strCache>
            </c:strRef>
          </c:tx>
          <c:spPr>
            <a:solidFill>
              <a:srgbClr val="C8102E"/>
            </a:solidFill>
            <a:ln w="25400" cap="flat">
              <a:solidFill>
                <a:srgbClr val="C810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8102E"/>
              </a:solidFill>
              <a:ln w="9525" cap="flat">
                <a:solidFill>
                  <a:srgbClr val="C810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</c:f>
              <c:multiLvlStrCache>
                <c:ptCount val="27"/>
                <c:lvl>
                  <c:pt idx="0">
                    <c:v>11/16</c:v>
                  </c:pt>
                  <c:pt idx="1">
                    <c:v>11/17</c:v>
                  </c:pt>
                  <c:pt idx="2">
                    <c:v>11/18</c:v>
                  </c:pt>
                  <c:pt idx="3">
                    <c:v>11/19</c:v>
                  </c:pt>
                  <c:pt idx="4">
                    <c:v>11/20</c:v>
                  </c:pt>
                  <c:pt idx="5">
                    <c:v>11/21</c:v>
                  </c:pt>
                  <c:pt idx="6">
                    <c:v>11/22</c:v>
                  </c:pt>
                  <c:pt idx="7">
                    <c:v>11/23</c:v>
                  </c:pt>
                  <c:pt idx="8">
                    <c:v>11/24</c:v>
                  </c:pt>
                  <c:pt idx="9">
                    <c:v>11/25</c:v>
                  </c:pt>
                  <c:pt idx="10">
                    <c:v>11/26</c:v>
                  </c:pt>
                  <c:pt idx="11">
                    <c:v>11/27</c:v>
                  </c:pt>
                  <c:pt idx="12">
                    <c:v>11/28</c:v>
                  </c:pt>
                  <c:pt idx="13">
                    <c:v>11/29</c:v>
                  </c:pt>
                  <c:pt idx="14">
                    <c:v>11/30</c:v>
                  </c:pt>
                  <c:pt idx="15">
                    <c:v>12/1</c:v>
                  </c:pt>
                  <c:pt idx="16">
                    <c:v>12/2</c:v>
                  </c:pt>
                  <c:pt idx="17">
                    <c:v>12/3</c:v>
                  </c:pt>
                  <c:pt idx="18">
                    <c:v>12/4</c:v>
                  </c:pt>
                  <c:pt idx="19">
                    <c:v>12/5</c:v>
                  </c:pt>
                  <c:pt idx="20">
                    <c:v>12/6</c:v>
                  </c:pt>
                  <c:pt idx="21">
                    <c:v>12/7</c:v>
                  </c:pt>
                  <c:pt idx="22">
                    <c:v>12/8</c:v>
                  </c:pt>
                  <c:pt idx="23">
                    <c:v>12/9</c:v>
                  </c:pt>
                  <c:pt idx="24">
                    <c:v>12/10</c:v>
                  </c:pt>
                  <c:pt idx="25">
                    <c:v>12/11</c:v>
                  </c:pt>
                  <c:pt idx="26">
                    <c:v>12/12</c:v>
                  </c:pt>
                </c:lvl>
              </c:multiLvlStrCache>
            </c:multiLvl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650</c:v>
                </c:pt>
                <c:pt idx="1">
                  <c:v>767</c:v>
                </c:pt>
                <c:pt idx="2">
                  <c:v>793</c:v>
                </c:pt>
                <c:pt idx="3">
                  <c:v>897</c:v>
                </c:pt>
                <c:pt idx="4">
                  <c:v>910</c:v>
                </c:pt>
                <c:pt idx="5">
                  <c:v>988</c:v>
                </c:pt>
                <c:pt idx="6">
                  <c:v>1001</c:v>
                </c:pt>
                <c:pt idx="7">
                  <c:v>1105</c:v>
                </c:pt>
                <c:pt idx="8">
                  <c:v>1118</c:v>
                </c:pt>
                <c:pt idx="9">
                  <c:v>1131</c:v>
                </c:pt>
                <c:pt idx="10">
                  <c:v>1209</c:v>
                </c:pt>
                <c:pt idx="11">
                  <c:v>1222</c:v>
                </c:pt>
                <c:pt idx="12">
                  <c:v>1235</c:v>
                </c:pt>
                <c:pt idx="13">
                  <c:v>1443</c:v>
                </c:pt>
                <c:pt idx="14">
                  <c:v>1456</c:v>
                </c:pt>
                <c:pt idx="15">
                  <c:v>1469</c:v>
                </c:pt>
                <c:pt idx="16">
                  <c:v>1482</c:v>
                </c:pt>
                <c:pt idx="17">
                  <c:v>1586</c:v>
                </c:pt>
                <c:pt idx="18">
                  <c:v>1599</c:v>
                </c:pt>
                <c:pt idx="19">
                  <c:v>1612</c:v>
                </c:pt>
                <c:pt idx="20">
                  <c:v>1690</c:v>
                </c:pt>
                <c:pt idx="21">
                  <c:v>1703</c:v>
                </c:pt>
                <c:pt idx="22">
                  <c:v>1716</c:v>
                </c:pt>
                <c:pt idx="23">
                  <c:v>1729</c:v>
                </c:pt>
                <c:pt idx="24">
                  <c:v>1807</c:v>
                </c:pt>
                <c:pt idx="25">
                  <c:v>2015</c:v>
                </c:pt>
                <c:pt idx="26">
                  <c:v>2126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リマインドなし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</c:f>
              <c:multiLvlStrCache>
                <c:ptCount val="27"/>
                <c:lvl>
                  <c:pt idx="0">
                    <c:v>11/16</c:v>
                  </c:pt>
                  <c:pt idx="1">
                    <c:v>11/17</c:v>
                  </c:pt>
                  <c:pt idx="2">
                    <c:v>11/18</c:v>
                  </c:pt>
                  <c:pt idx="3">
                    <c:v>11/19</c:v>
                  </c:pt>
                  <c:pt idx="4">
                    <c:v>11/20</c:v>
                  </c:pt>
                  <c:pt idx="5">
                    <c:v>11/21</c:v>
                  </c:pt>
                  <c:pt idx="6">
                    <c:v>11/22</c:v>
                  </c:pt>
                  <c:pt idx="7">
                    <c:v>11/23</c:v>
                  </c:pt>
                  <c:pt idx="8">
                    <c:v>11/24</c:v>
                  </c:pt>
                  <c:pt idx="9">
                    <c:v>11/25</c:v>
                  </c:pt>
                  <c:pt idx="10">
                    <c:v>11/26</c:v>
                  </c:pt>
                  <c:pt idx="11">
                    <c:v>11/27</c:v>
                  </c:pt>
                  <c:pt idx="12">
                    <c:v>11/28</c:v>
                  </c:pt>
                  <c:pt idx="13">
                    <c:v>11/29</c:v>
                  </c:pt>
                  <c:pt idx="14">
                    <c:v>11/30</c:v>
                  </c:pt>
                  <c:pt idx="15">
                    <c:v>12/1</c:v>
                  </c:pt>
                  <c:pt idx="16">
                    <c:v>12/2</c:v>
                  </c:pt>
                  <c:pt idx="17">
                    <c:v>12/3</c:v>
                  </c:pt>
                  <c:pt idx="18">
                    <c:v>12/4</c:v>
                  </c:pt>
                  <c:pt idx="19">
                    <c:v>12/5</c:v>
                  </c:pt>
                  <c:pt idx="20">
                    <c:v>12/6</c:v>
                  </c:pt>
                  <c:pt idx="21">
                    <c:v>12/7</c:v>
                  </c:pt>
                  <c:pt idx="22">
                    <c:v>12/8</c:v>
                  </c:pt>
                  <c:pt idx="23">
                    <c:v>12/9</c:v>
                  </c:pt>
                  <c:pt idx="24">
                    <c:v>12/10</c:v>
                  </c:pt>
                  <c:pt idx="25">
                    <c:v>12/11</c:v>
                  </c:pt>
                  <c:pt idx="26">
                    <c:v>12/12</c:v>
                  </c:pt>
                </c:lvl>
              </c:multiLvlStrCache>
            </c:multiLvlStrRef>
          </c:cat>
          <c:val>
            <c:numRef>
              <c:f>Sheet1!$C$2:$C$28</c:f>
              <c:numCache>
                <c:formatCode>General</c:formatCode>
                <c:ptCount val="27"/>
                <c:pt idx="0">
                  <c:v>650</c:v>
                </c:pt>
                <c:pt idx="1">
                  <c:v>702</c:v>
                </c:pt>
                <c:pt idx="2">
                  <c:v>728</c:v>
                </c:pt>
                <c:pt idx="3">
                  <c:v>741</c:v>
                </c:pt>
                <c:pt idx="4">
                  <c:v>754</c:v>
                </c:pt>
                <c:pt idx="5">
                  <c:v>767</c:v>
                </c:pt>
                <c:pt idx="6">
                  <c:v>780</c:v>
                </c:pt>
                <c:pt idx="7">
                  <c:v>793</c:v>
                </c:pt>
                <c:pt idx="8">
                  <c:v>806</c:v>
                </c:pt>
                <c:pt idx="9">
                  <c:v>819</c:v>
                </c:pt>
                <c:pt idx="10">
                  <c:v>832</c:v>
                </c:pt>
                <c:pt idx="11">
                  <c:v>845</c:v>
                </c:pt>
                <c:pt idx="12">
                  <c:v>858</c:v>
                </c:pt>
                <c:pt idx="13">
                  <c:v>871</c:v>
                </c:pt>
                <c:pt idx="14">
                  <c:v>884</c:v>
                </c:pt>
                <c:pt idx="15">
                  <c:v>897</c:v>
                </c:pt>
                <c:pt idx="16">
                  <c:v>910</c:v>
                </c:pt>
                <c:pt idx="17">
                  <c:v>923</c:v>
                </c:pt>
                <c:pt idx="18">
                  <c:v>936</c:v>
                </c:pt>
                <c:pt idx="19">
                  <c:v>949</c:v>
                </c:pt>
                <c:pt idx="20">
                  <c:v>962</c:v>
                </c:pt>
                <c:pt idx="21">
                  <c:v>975</c:v>
                </c:pt>
                <c:pt idx="22">
                  <c:v>988</c:v>
                </c:pt>
                <c:pt idx="23">
                  <c:v>1001</c:v>
                </c:pt>
                <c:pt idx="24">
                  <c:v>1014</c:v>
                </c:pt>
                <c:pt idx="25">
                  <c:v>1027</c:v>
                </c:pt>
                <c:pt idx="26">
                  <c:v>1040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第3弾 1,200件</c:v>
                </c:pt>
              </c:strCache>
            </c:strRef>
          </c:tx>
          <c:spPr>
            <a:solidFill>
              <a:srgbClr val="BFBFBF"/>
            </a:solidFill>
            <a:ln w="25400" cap="flat">
              <a:solidFill>
                <a:srgbClr val="BFBFB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FBFBF"/>
              </a:solidFill>
              <a:ln w="9525" cap="flat">
                <a:solidFill>
                  <a:srgbClr val="BFBFB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</c:f>
              <c:multiLvlStrCache>
                <c:ptCount val="27"/>
                <c:lvl>
                  <c:pt idx="0">
                    <c:v>11/16</c:v>
                  </c:pt>
                  <c:pt idx="1">
                    <c:v>11/17</c:v>
                  </c:pt>
                  <c:pt idx="2">
                    <c:v>11/18</c:v>
                  </c:pt>
                  <c:pt idx="3">
                    <c:v>11/19</c:v>
                  </c:pt>
                  <c:pt idx="4">
                    <c:v>11/20</c:v>
                  </c:pt>
                  <c:pt idx="5">
                    <c:v>11/21</c:v>
                  </c:pt>
                  <c:pt idx="6">
                    <c:v>11/22</c:v>
                  </c:pt>
                  <c:pt idx="7">
                    <c:v>11/23</c:v>
                  </c:pt>
                  <c:pt idx="8">
                    <c:v>11/24</c:v>
                  </c:pt>
                  <c:pt idx="9">
                    <c:v>11/25</c:v>
                  </c:pt>
                  <c:pt idx="10">
                    <c:v>11/26</c:v>
                  </c:pt>
                  <c:pt idx="11">
                    <c:v>11/27</c:v>
                  </c:pt>
                  <c:pt idx="12">
                    <c:v>11/28</c:v>
                  </c:pt>
                  <c:pt idx="13">
                    <c:v>11/29</c:v>
                  </c:pt>
                  <c:pt idx="14">
                    <c:v>11/30</c:v>
                  </c:pt>
                  <c:pt idx="15">
                    <c:v>12/1</c:v>
                  </c:pt>
                  <c:pt idx="16">
                    <c:v>12/2</c:v>
                  </c:pt>
                  <c:pt idx="17">
                    <c:v>12/3</c:v>
                  </c:pt>
                  <c:pt idx="18">
                    <c:v>12/4</c:v>
                  </c:pt>
                  <c:pt idx="19">
                    <c:v>12/5</c:v>
                  </c:pt>
                  <c:pt idx="20">
                    <c:v>12/6</c:v>
                  </c:pt>
                  <c:pt idx="21">
                    <c:v>12/7</c:v>
                  </c:pt>
                  <c:pt idx="22">
                    <c:v>12/8</c:v>
                  </c:pt>
                  <c:pt idx="23">
                    <c:v>12/9</c:v>
                  </c:pt>
                  <c:pt idx="24">
                    <c:v>12/10</c:v>
                  </c:pt>
                  <c:pt idx="25">
                    <c:v>12/11</c:v>
                  </c:pt>
                  <c:pt idx="26">
                    <c:v>12/12</c:v>
                  </c:pt>
                </c:lvl>
              </c:multiLvlStrCache>
            </c:multiLvlStrRef>
          </c:cat>
          <c:val>
            <c:numRef>
              <c:f>Sheet1!$D$2:$D$28</c:f>
              <c:numCache>
                <c:formatCode>General</c:formatCode>
                <c:ptCount val="27"/>
                <c:pt idx="0">
                  <c:v>1200</c:v>
                </c:pt>
                <c:pt idx="1">
                  <c:v>1200</c:v>
                </c:pt>
                <c:pt idx="2">
                  <c:v>1200</c:v>
                </c:pt>
                <c:pt idx="3">
                  <c:v>1200</c:v>
                </c:pt>
                <c:pt idx="4">
                  <c:v>1200</c:v>
                </c:pt>
                <c:pt idx="5">
                  <c:v>1200</c:v>
                </c:pt>
                <c:pt idx="6">
                  <c:v>1200</c:v>
                </c:pt>
                <c:pt idx="7">
                  <c:v>1200</c:v>
                </c:pt>
                <c:pt idx="8">
                  <c:v>1200</c:v>
                </c:pt>
                <c:pt idx="9">
                  <c:v>1200</c:v>
                </c:pt>
                <c:pt idx="10">
                  <c:v>1200</c:v>
                </c:pt>
                <c:pt idx="11">
                  <c:v>1200</c:v>
                </c:pt>
                <c:pt idx="12">
                  <c:v>1200</c:v>
                </c:pt>
                <c:pt idx="13">
                  <c:v>1200</c:v>
                </c:pt>
                <c:pt idx="14">
                  <c:v>1200</c:v>
                </c:pt>
                <c:pt idx="15">
                  <c:v>1200</c:v>
                </c:pt>
                <c:pt idx="16">
                  <c:v>1200</c:v>
                </c:pt>
                <c:pt idx="17">
                  <c:v>1200</c:v>
                </c:pt>
                <c:pt idx="18">
                  <c:v>1200</c:v>
                </c:pt>
                <c:pt idx="19">
                  <c:v>1200</c:v>
                </c:pt>
                <c:pt idx="20">
                  <c:v>1200</c:v>
                </c:pt>
                <c:pt idx="21">
                  <c:v>1200</c:v>
                </c:pt>
                <c:pt idx="22">
                  <c:v>1200</c:v>
                </c:pt>
                <c:pt idx="23">
                  <c:v>1200</c:v>
                </c:pt>
                <c:pt idx="24">
                  <c:v>1200</c:v>
                </c:pt>
                <c:pt idx="25">
                  <c:v>1200</c:v>
                </c:pt>
                <c:pt idx="26">
                  <c:v>1200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第4弾 2,000件</c:v>
                </c:pt>
              </c:strCache>
            </c:strRef>
          </c:tx>
          <c:spPr>
            <a:solidFill>
              <a:srgbClr val="BFBFBF"/>
            </a:solidFill>
            <a:ln w="25400" cap="flat">
              <a:solidFill>
                <a:srgbClr val="BFBFB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FBFBF"/>
              </a:solidFill>
              <a:ln w="9525" cap="flat">
                <a:solidFill>
                  <a:srgbClr val="BFBFB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</c:f>
              <c:multiLvlStrCache>
                <c:ptCount val="27"/>
                <c:lvl>
                  <c:pt idx="0">
                    <c:v>11/16</c:v>
                  </c:pt>
                  <c:pt idx="1">
                    <c:v>11/17</c:v>
                  </c:pt>
                  <c:pt idx="2">
                    <c:v>11/18</c:v>
                  </c:pt>
                  <c:pt idx="3">
                    <c:v>11/19</c:v>
                  </c:pt>
                  <c:pt idx="4">
                    <c:v>11/20</c:v>
                  </c:pt>
                  <c:pt idx="5">
                    <c:v>11/21</c:v>
                  </c:pt>
                  <c:pt idx="6">
                    <c:v>11/22</c:v>
                  </c:pt>
                  <c:pt idx="7">
                    <c:v>11/23</c:v>
                  </c:pt>
                  <c:pt idx="8">
                    <c:v>11/24</c:v>
                  </c:pt>
                  <c:pt idx="9">
                    <c:v>11/25</c:v>
                  </c:pt>
                  <c:pt idx="10">
                    <c:v>11/26</c:v>
                  </c:pt>
                  <c:pt idx="11">
                    <c:v>11/27</c:v>
                  </c:pt>
                  <c:pt idx="12">
                    <c:v>11/28</c:v>
                  </c:pt>
                  <c:pt idx="13">
                    <c:v>11/29</c:v>
                  </c:pt>
                  <c:pt idx="14">
                    <c:v>11/30</c:v>
                  </c:pt>
                  <c:pt idx="15">
                    <c:v>12/1</c:v>
                  </c:pt>
                  <c:pt idx="16">
                    <c:v>12/2</c:v>
                  </c:pt>
                  <c:pt idx="17">
                    <c:v>12/3</c:v>
                  </c:pt>
                  <c:pt idx="18">
                    <c:v>12/4</c:v>
                  </c:pt>
                  <c:pt idx="19">
                    <c:v>12/5</c:v>
                  </c:pt>
                  <c:pt idx="20">
                    <c:v>12/6</c:v>
                  </c:pt>
                  <c:pt idx="21">
                    <c:v>12/7</c:v>
                  </c:pt>
                  <c:pt idx="22">
                    <c:v>12/8</c:v>
                  </c:pt>
                  <c:pt idx="23">
                    <c:v>12/9</c:v>
                  </c:pt>
                  <c:pt idx="24">
                    <c:v>12/10</c:v>
                  </c:pt>
                  <c:pt idx="25">
                    <c:v>12/11</c:v>
                  </c:pt>
                  <c:pt idx="26">
                    <c:v>12/12</c:v>
                  </c:pt>
                </c:lvl>
              </c:multiLvlStrCache>
            </c:multiLvlStrRef>
          </c:cat>
          <c:val>
            <c:numRef>
              <c:f>Sheet1!$E$2:$E$28</c:f>
              <c:numCache>
                <c:formatCode>General</c:formatCode>
                <c:ptCount val="27"/>
                <c:pt idx="0">
                  <c:v>2000</c:v>
                </c:pt>
                <c:pt idx="1">
                  <c:v>2000</c:v>
                </c:pt>
                <c:pt idx="2">
                  <c:v>2000</c:v>
                </c:pt>
                <c:pt idx="3">
                  <c:v>2000</c:v>
                </c:pt>
                <c:pt idx="4">
                  <c:v>2000</c:v>
                </c:pt>
                <c:pt idx="5">
                  <c:v>2000</c:v>
                </c:pt>
                <c:pt idx="6">
                  <c:v>2000</c:v>
                </c:pt>
                <c:pt idx="7">
                  <c:v>2000</c:v>
                </c:pt>
                <c:pt idx="8">
                  <c:v>2000</c:v>
                </c:pt>
                <c:pt idx="9">
                  <c:v>2000</c:v>
                </c:pt>
                <c:pt idx="10">
                  <c:v>2000</c:v>
                </c:pt>
                <c:pt idx="11">
                  <c:v>2000</c:v>
                </c:pt>
                <c:pt idx="12">
                  <c:v>2000</c:v>
                </c:pt>
                <c:pt idx="13">
                  <c:v>2000</c:v>
                </c:pt>
                <c:pt idx="14">
                  <c:v>2000</c:v>
                </c:pt>
                <c:pt idx="15">
                  <c:v>2000</c:v>
                </c:pt>
                <c:pt idx="16">
                  <c:v>2000</c:v>
                </c:pt>
                <c:pt idx="17">
                  <c:v>2000</c:v>
                </c:pt>
                <c:pt idx="18">
                  <c:v>2000</c:v>
                </c:pt>
                <c:pt idx="19">
                  <c:v>2000</c:v>
                </c:pt>
                <c:pt idx="20">
                  <c:v>2000</c:v>
                </c:pt>
                <c:pt idx="21">
                  <c:v>2000</c:v>
                </c:pt>
                <c:pt idx="22">
                  <c:v>2000</c:v>
                </c:pt>
                <c:pt idx="23">
                  <c:v>2000</c:v>
                </c:pt>
                <c:pt idx="24">
                  <c:v>2000</c:v>
                </c:pt>
                <c:pt idx="25">
                  <c:v>2000</c:v>
                </c:pt>
                <c:pt idx="26">
                  <c:v>2000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ax val="2500"/>
        </c:scaling>
        <c:delete val="0"/>
        <c:axPos val="l"/>
        <c:majorGridlines>
          <c:spPr>
            <a:ln w="9525" cap="flat">
              <a:solidFill>
                <a:srgbClr val="E6E6E6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47472"/>
            <a:ext cx="822960" cy="56692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932688"/>
            <a:ext cx="11551615" cy="0"/>
          </a:xfrm>
          <a:prstGeom prst="line">
            <a:avLst/>
          </a:prstGeom>
          <a:noFill/>
          <a:ln w="28575">
            <a:solidFill>
              <a:srgbClr val="C8102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360152" y="164592"/>
            <a:ext cx="1508760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360152" y="164592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</a:rPr>
              <a:t>秘密度 C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607040" y="4572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222222"/>
                </a:solidFill>
              </a:rPr>
              <a:t>Page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</a:rPr>
              <a:t>©2026 NTTdocomo Co., Ltd. All Rights Reserved.</a:t>
            </a:r>
            <a:endParaRPr lang="en-US" sz="800" dirty="0"/>
          </a:p>
        </p:txBody>
      </p:sp>
      <p:sp>
        <p:nvSpPr>
          <p:cNvPr id="8" name="Text 6"/>
          <p:cNvSpPr/>
          <p:nvPr>
            <p:ph idx="106" type="title" hasCustomPrompt="1"/>
          </p:nvPr>
        </p:nvSpPr>
        <p:spPr>
          <a:xfrm>
            <a:off x="1325880" y="274320"/>
            <a:ext cx="877824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22222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457200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600">
                <a:solidFill>
                  <a:srgbClr val="22222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011680"/>
            <a:ext cx="1005840" cy="201168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71600" y="4114800"/>
            <a:ext cx="10332720" cy="0"/>
          </a:xfrm>
          <a:prstGeom prst="line">
            <a:avLst/>
          </a:prstGeom>
          <a:noFill/>
          <a:ln w="28575">
            <a:solidFill>
              <a:srgbClr val="C810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7F7F"/>
                </a:solidFill>
              </a:rPr>
              <a:t>©2026 NTTdocomo Co., Ltd. All Rights Reserved.</a:t>
            </a:r>
            <a:endParaRPr lang="en-US" sz="8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1371600" y="2011680"/>
            <a:ext cx="1033272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22222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457200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600">
                <a:solidFill>
                  <a:srgbClr val="22222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1371600" y="2011680"/>
            <a:ext cx="10332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22222"/>
                </a:solidFill>
              </a:rPr>
              <a:t>OWV フォロー＆リポストキャンペーン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rgbClr val="222222"/>
                </a:solidFill>
              </a:rPr>
              <a:t>リマインド投稿・リポスト目標設計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42519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04040"/>
                </a:solidFill>
              </a:rPr>
              <a:t>井上尚弥選手 THE DAY展キャンペーンの実績をもとに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754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2026年10月　d ticket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6" type="title" hasCustomPrompt="1"/>
          </p:nvPr>
        </p:nvSpPr>
        <p:spPr>
          <a:xfrm>
            <a:off x="1325880" y="27432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22222"/>
                </a:solidFill>
              </a:rPr>
              <a:t>サマリー</a:t>
            </a:r>
            <a:endParaRPr lang="en-US" sz="2800" dirty="0"/>
          </a:p>
        </p:txBody>
      </p:sp>
      <p:sp>
        <p:nvSpPr>
          <p:cNvPr id="3" name="lead-box"/>
          <p:cNvSpPr/>
          <p:nvPr/>
        </p:nvSpPr>
        <p:spPr>
          <a:xfrm>
            <a:off x="457200" y="1115568"/>
            <a:ext cx="11277295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lead-text"/>
          <p:cNvSpPr txBox="1"/>
          <p:nvPr/>
        </p:nvSpPr>
        <p:spPr>
          <a:xfrm>
            <a:off x="594360" y="1161288"/>
            <a:ext cx="11002975" cy="114300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・井上尚弥CPでは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リポストの7割が初日に集中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し、放置すると2日目以降はほぼ伸びなかった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・一方、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リマインド＋関係先アカウントのリポストで、開始12日後でも初日の約3割まで回復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している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・OWV CPは「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17時投稿 × 計12回の再露出 × 4段階の解禁ライン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」で、締切までリポストを伸ばし続ける設計とする</a:t>
            </a:r>
            <a:endParaRPr lang="en-US" sz="1500" dirty="0"/>
          </a:p>
        </p:txBody>
      </p:sp>
      <p:sp>
        <p:nvSpPr>
          <p:cNvPr id="5" name="card-0"/>
          <p:cNvSpPr/>
          <p:nvPr/>
        </p:nvSpPr>
        <p:spPr>
          <a:xfrm>
            <a:off x="457200" y="2606040"/>
            <a:ext cx="3593592" cy="3429000"/>
          </a:xfrm>
          <a:prstGeom prst="rect">
            <a:avLst/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834640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4040"/>
                </a:solidFill>
              </a:rPr>
              <a:t>投稿時刻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46120"/>
            <a:ext cx="3044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8102E"/>
                </a:solidFill>
              </a:rPr>
              <a:t>17:00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389120"/>
            <a:ext cx="3044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</a:rPr>
              <a:t>競合調査で平均ビュー最大の15-17時台。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</a:rPr>
              <a:t>運用上限（18時）の範囲で最も伸びる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5577840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</a:rPr>
              <a:t>→ P5</a:t>
            </a:r>
            <a:endParaRPr lang="en-US" sz="1100" dirty="0"/>
          </a:p>
        </p:txBody>
      </p:sp>
      <p:sp>
        <p:nvSpPr>
          <p:cNvPr id="10" name="card-1"/>
          <p:cNvSpPr/>
          <p:nvPr/>
        </p:nvSpPr>
        <p:spPr>
          <a:xfrm>
            <a:off x="4279392" y="2606040"/>
            <a:ext cx="3593592" cy="3429000"/>
          </a:xfrm>
          <a:prstGeom prst="rect">
            <a:avLst/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53712" y="2834640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4040"/>
                </a:solidFill>
              </a:rPr>
              <a:t>投稿回数（27日間）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53712" y="3246120"/>
            <a:ext cx="3044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8102E"/>
                </a:solidFill>
              </a:rPr>
              <a:t>12回</a:t>
            </a:r>
            <a:endParaRPr lang="en-US" sz="4800" dirty="0"/>
          </a:p>
        </p:txBody>
      </p:sp>
      <p:sp>
        <p:nvSpPr>
          <p:cNvPr id="13" name="Text 11"/>
          <p:cNvSpPr txBox="1"/>
          <p:nvPr/>
        </p:nvSpPr>
        <p:spPr>
          <a:xfrm>
            <a:off x="4553712" y="4389120"/>
            <a:ext cx="3044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</a:rPr>
              <a:t>勢いが尽きる前に2〜3日おきで再露出。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</a:rPr>
              <a:t>うちOWV公式リポスト依頼は3回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53712" y="5577840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</a:rPr>
              <a:t>→ P3・P4・P6・P8</a:t>
            </a:r>
            <a:endParaRPr lang="en-US" sz="1100" dirty="0"/>
          </a:p>
        </p:txBody>
      </p:sp>
      <p:sp>
        <p:nvSpPr>
          <p:cNvPr id="15" name="card-2"/>
          <p:cNvSpPr/>
          <p:nvPr/>
        </p:nvSpPr>
        <p:spPr>
          <a:xfrm>
            <a:off x="8101584" y="2606040"/>
            <a:ext cx="3593592" cy="3429000"/>
          </a:xfrm>
          <a:prstGeom prst="rect">
            <a:avLst/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75904" y="2834640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4040"/>
                </a:solidFill>
              </a:rPr>
              <a:t>動画解禁ライン（最大）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375904" y="3246120"/>
            <a:ext cx="3044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8102E"/>
                </a:solidFill>
              </a:rPr>
              <a:t>2,000件</a:t>
            </a:r>
            <a:endParaRPr lang="en-US" sz="4800" dirty="0"/>
          </a:p>
        </p:txBody>
      </p:sp>
      <p:sp>
        <p:nvSpPr>
          <p:cNvPr id="18" name="Text 16"/>
          <p:cNvSpPr txBox="1"/>
          <p:nvPr/>
        </p:nvSpPr>
        <p:spPr>
          <a:xfrm>
            <a:off x="8375904" y="4389120"/>
            <a:ext cx="3044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</a:rPr>
              <a:t>300 → 700 → 1,200 → 2,000 の4段階。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</a:rPr>
              <a:t>第1弾は初日に必ず達成させる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375904" y="5577840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</a:rPr>
              <a:t>→ P7・P9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457200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600">
                <a:solidFill>
                  <a:srgbClr val="22222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6" type="title" hasCustomPrompt="1"/>
          </p:nvPr>
        </p:nvSpPr>
        <p:spPr>
          <a:xfrm>
            <a:off x="1325880" y="27432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22222"/>
                </a:solidFill>
              </a:rPr>
              <a:t>井上尚弥CP　日別リポスト・フォロー推移</a:t>
            </a:r>
            <a:endParaRPr lang="en-US" sz="2800" dirty="0"/>
          </a:p>
        </p:txBody>
      </p:sp>
      <p:sp>
        <p:nvSpPr>
          <p:cNvPr id="3" name="lead-box"/>
          <p:cNvSpPr/>
          <p:nvPr/>
        </p:nvSpPr>
        <p:spPr>
          <a:xfrm>
            <a:off x="457200" y="1115568"/>
            <a:ext cx="11277295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lead-text"/>
          <p:cNvSpPr txBox="1"/>
          <p:nvPr/>
        </p:nvSpPr>
        <p:spPr>
          <a:xfrm>
            <a:off x="594360" y="1161288"/>
            <a:ext cx="11002975" cy="114300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・リポストの73%（509/696件）が投稿初日に集中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し、2日目以降は1日10〜20件まで急減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・10/23（イベント動画）で約70件、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10/26（リマインド＋本家グッズアカウントのリポスト）で約150件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と、再露出した日だけ再び伸びた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・→ 放置すると止まるが、出し直せば戻る。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勢いが止まったタイミングで再露出させる設計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が必要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2514600"/>
          <a:ext cx="768096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0" y="2606040"/>
          <a:ext cx="3364992" cy="914400"/>
        </p:xfrm>
        <a:graphic>
          <a:graphicData uri="http://schemas.openxmlformats.org/drawingml/2006/table">
            <a:tbl>
              <a:tblPr/>
              <a:tblGrid>
                <a:gridCol w="1810512"/>
                <a:gridCol w="1554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指標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値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ポストのリポスト合計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696件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うち初日（10/14）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8102E"/>
                          </a:solidFill>
                        </a:rPr>
                        <a:t>509件（73%）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2日目以降（放置日）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1日10〜20件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初日 新規フォロー／リポスト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463／509 ≒ 0.9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10/26 リマインド＋本家RP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8102E"/>
                          </a:solidFill>
                        </a:rPr>
                        <a:t>約150件（初日の約3割）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619963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</a:rPr>
              <a:t>※日別値はXアナリティクス（アカウント概要・4W）のグラフからの目視読み取りによる概算。10/14のみツールチップ実数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457200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600">
                <a:solidFill>
                  <a:srgbClr val="22222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6" type="title" hasCustomPrompt="1"/>
          </p:nvPr>
        </p:nvSpPr>
        <p:spPr>
          <a:xfrm>
            <a:off x="1325880" y="27432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22222"/>
                </a:solidFill>
              </a:rPr>
              <a:t>井上尚弥CP　投稿後48時間の推移</a:t>
            </a:r>
            <a:endParaRPr lang="en-US" sz="2800" dirty="0"/>
          </a:p>
        </p:txBody>
      </p:sp>
      <p:sp>
        <p:nvSpPr>
          <p:cNvPr id="3" name="lead-box"/>
          <p:cNvSpPr/>
          <p:nvPr/>
        </p:nvSpPr>
        <p:spPr>
          <a:xfrm>
            <a:off x="457200" y="1115568"/>
            <a:ext cx="11277295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lead-text"/>
          <p:cNvSpPr txBox="1"/>
          <p:nvPr/>
        </p:nvSpPr>
        <p:spPr>
          <a:xfrm>
            <a:off x="594360" y="1161288"/>
            <a:ext cx="11002975" cy="114300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・インプレッションは投稿1時間後がピーク（約3.9K）で、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12時間で48時間累計の約80%を消化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・18時間以降はほぼゼロとなり、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1本の投稿の寿命は約半日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・→ 初回リマインドは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勢いが尽きた翌日（約24時間後）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、以降も2〜3日以内に再露出させる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2514600"/>
          <a:ext cx="813816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tat-0"/>
          <p:cNvSpPr/>
          <p:nvPr/>
        </p:nvSpPr>
        <p:spPr>
          <a:xfrm>
            <a:off x="8823960" y="2606040"/>
            <a:ext cx="2907792" cy="1033272"/>
          </a:xfrm>
          <a:prstGeom prst="rect">
            <a:avLst/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006840" y="2679192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</a:rPr>
              <a:t>1h後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9006840" y="322783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</a:rPr>
              <a:t>インプレッションのピーク</a:t>
            </a:r>
            <a:endParaRPr lang="en-US" sz="1200" dirty="0"/>
          </a:p>
        </p:txBody>
      </p:sp>
      <p:sp>
        <p:nvSpPr>
          <p:cNvPr id="9" name="stat-1"/>
          <p:cNvSpPr/>
          <p:nvPr/>
        </p:nvSpPr>
        <p:spPr>
          <a:xfrm>
            <a:off x="8823960" y="3776472"/>
            <a:ext cx="2907792" cy="1033272"/>
          </a:xfrm>
          <a:prstGeom prst="rect">
            <a:avLst/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006840" y="3849624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</a:rPr>
              <a:t>84%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9006840" y="439826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</a:rPr>
              <a:t>12時間で消化（48h比）</a:t>
            </a:r>
            <a:endParaRPr lang="en-US" sz="1200" dirty="0"/>
          </a:p>
        </p:txBody>
      </p:sp>
      <p:sp>
        <p:nvSpPr>
          <p:cNvPr id="12" name="stat-2"/>
          <p:cNvSpPr/>
          <p:nvPr/>
        </p:nvSpPr>
        <p:spPr>
          <a:xfrm>
            <a:off x="8823960" y="4946904"/>
            <a:ext cx="2907792" cy="1033272"/>
          </a:xfrm>
          <a:prstGeom prst="rect">
            <a:avLst/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006840" y="5020056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102E"/>
                </a:solidFill>
              </a:rPr>
              <a:t>約24h後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9006840" y="556869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</a:rPr>
              <a:t>初回リマインドの目安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619963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</a:rPr>
              <a:t>※1時間ごとの値はポストアナリティクス「最初の48時間」グラフからの目視読み取りによる概算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457200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600">
                <a:solidFill>
                  <a:srgbClr val="22222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6" type="title" hasCustomPrompt="1"/>
          </p:nvPr>
        </p:nvSpPr>
        <p:spPr>
          <a:xfrm>
            <a:off x="1325880" y="27432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22222"/>
                </a:solidFill>
              </a:rPr>
              <a:t>投稿時刻の決定　時間帯別の平均ビュー</a:t>
            </a:r>
            <a:endParaRPr lang="en-US" sz="2800" dirty="0"/>
          </a:p>
        </p:txBody>
      </p:sp>
      <p:sp>
        <p:nvSpPr>
          <p:cNvPr id="3" name="lead-box"/>
          <p:cNvSpPr/>
          <p:nvPr/>
        </p:nvSpPr>
        <p:spPr>
          <a:xfrm>
            <a:off x="457200" y="1115568"/>
            <a:ext cx="11277295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lead-text"/>
          <p:cNvSpPr txBox="1"/>
          <p:nvPr/>
        </p:nvSpPr>
        <p:spPr>
          <a:xfrm>
            <a:off x="594360" y="1161288"/>
            <a:ext cx="11002975" cy="114300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・9月競合調査（チケット各社）では、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平均ビューは15-17時台が最大（23,219）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で、他時間帯の1.4〜2.2倍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・18-20時台は投稿件数が最多（90件）で競合投稿が混み合う。ERは時間帯による差がほぼ無い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・→ 運用上限（18時）の範囲で最も伸びるため、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本投稿・リマインドは原則17:00に統一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（締切当日のみ12:00）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2514600"/>
          <a:ext cx="658368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2606040"/>
          <a:ext cx="4416552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731520"/>
                <a:gridCol w="1353312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時間帯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件数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平均ビュー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平均ER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09-11時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33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10,792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0.46%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12-14時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61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13,772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0.38%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15-17時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49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23,219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0.46%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18-20時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90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16,218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0.48%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21-23時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12,756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0.28%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</a:rPr>
                        <a:t>当社の投稿可能時間：〜18時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619963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</a:rPr>
              <a:t>※出典：9月 競合アカウント調査（ローチケ・チケットぴあ・イープラス・楽天チケット・d ticket、ローチケ・ぴあはサンプリング抽出）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457200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600">
                <a:solidFill>
                  <a:srgbClr val="22222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6" type="title" hasCustomPrompt="1"/>
          </p:nvPr>
        </p:nvSpPr>
        <p:spPr>
          <a:xfrm>
            <a:off x="1325880" y="27432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22222"/>
                </a:solidFill>
              </a:rPr>
              <a:t>再露出施策の効果比較　OWV公式リポストの根拠</a:t>
            </a:r>
            <a:endParaRPr lang="en-US" sz="2800" dirty="0"/>
          </a:p>
        </p:txBody>
      </p:sp>
      <p:sp>
        <p:nvSpPr>
          <p:cNvPr id="3" name="lead-box"/>
          <p:cNvSpPr/>
          <p:nvPr/>
        </p:nvSpPr>
        <p:spPr>
          <a:xfrm>
            <a:off x="457200" y="1115568"/>
            <a:ext cx="11277295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lead-text"/>
          <p:cNvSpPr txBox="1"/>
          <p:nvPr/>
        </p:nvSpPr>
        <p:spPr>
          <a:xfrm>
            <a:off x="594360" y="1161288"/>
            <a:ext cx="11002975" cy="114300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・関係先アカウントのリポストを併用したリマインドは、放置日の10倍超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・コンテンツ単体投稿の約2倍を獲得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・→ OWV CPでは山場の3回（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開始日・中間11/29・締切前日12/11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）にOWV公式へリポストを依頼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・→ 動画公開の投稿も「コンテンツ投稿＝リマインド」として活用し、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公開告知＋次の目標（あと◯件）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をセットで発信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2514600"/>
          <a:ext cx="694944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606040"/>
          <a:ext cx="4050792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078992"/>
                <a:gridCol w="13716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施策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初日比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OWVでの使い方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放置日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約2%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コンテンツ投稿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約14%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動画公開（3回）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8102E"/>
                          </a:solidFill>
                        </a:rPr>
                        <a:t>リマインド＋関係先RP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8102E"/>
                          </a:solidFill>
                        </a:rPr>
                        <a:t>約30%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8102E"/>
                          </a:solidFill>
                        </a:rPr>
                        <a:t>OWV公式RP（3回）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単独リマインド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約10%（想定）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残り5回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619963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</a:rPr>
              <a:t>※単独リマインドの効果は実績が無いため、コンテンツ投稿よりやや低い水準で仮置き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457200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600">
                <a:solidFill>
                  <a:srgbClr val="22222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6" type="title" hasCustomPrompt="1"/>
          </p:nvPr>
        </p:nvSpPr>
        <p:spPr>
          <a:xfrm>
            <a:off x="1325880" y="27432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22222"/>
                </a:solidFill>
              </a:rPr>
              <a:t>動画解禁ラインの設計　最大2,000件を4分割</a:t>
            </a:r>
            <a:endParaRPr lang="en-US" sz="2800" dirty="0"/>
          </a:p>
        </p:txBody>
      </p:sp>
      <p:sp>
        <p:nvSpPr>
          <p:cNvPr id="3" name="lead-box"/>
          <p:cNvSpPr/>
          <p:nvPr/>
        </p:nvSpPr>
        <p:spPr>
          <a:xfrm>
            <a:off x="457200" y="1115568"/>
            <a:ext cx="11277295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lead-text"/>
          <p:cNvSpPr txBox="1"/>
          <p:nvPr/>
        </p:nvSpPr>
        <p:spPr>
          <a:xfrm>
            <a:off x="594360" y="1161288"/>
            <a:ext cx="11002975" cy="114300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・前半は井上CP実績を基準に「確実に達成できる」水準、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後半はリマインドとOWV公式RPで届く水準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に設定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・第1弾は必ず初日に達成させ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「動く企画」であることを示し、以降の参加を促す（ゴールに近いほど参加が増える）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・規約は「◯件達成で公開決定」とし、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公開日は当社がコントロール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（早期達成しても動画を期間中に分散）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2514600"/>
          <a:ext cx="566928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2606040"/>
          <a:ext cx="5376672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051560"/>
                <a:gridCol w="2587752"/>
                <a:gridCol w="96012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段階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解禁ライン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根拠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達成想定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</a:rPr>
                        <a:t>第1弾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300件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井上CP初日（509）の約6割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11/16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</a:rPr>
                        <a:t>第2弾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700件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井上CP合計（696）と同水準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11/17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</a:rPr>
                        <a:t>第3弾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1,200件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単独リマインド＋動画公開の上乗せで到達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11/26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</a:rPr>
                        <a:t>第4弾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2,000件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OWV公式RP（中間・締切前日）で到達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12/11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619963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</a:rPr>
              <a:t>※達成想定日はP9の想定シナリオによる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457200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600">
                <a:solidFill>
                  <a:srgbClr val="22222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6" type="title" hasCustomPrompt="1"/>
          </p:nvPr>
        </p:nvSpPr>
        <p:spPr>
          <a:xfrm>
            <a:off x="1325880" y="27432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22222"/>
                </a:solidFill>
              </a:rPr>
              <a:t>投稿スケジュール　11/16（月）〜12/12（土）</a:t>
            </a:r>
            <a:endParaRPr lang="en-US" sz="2800" dirty="0"/>
          </a:p>
        </p:txBody>
      </p:sp>
      <p:sp>
        <p:nvSpPr>
          <p:cNvPr id="3" name="lead-box"/>
          <p:cNvSpPr/>
          <p:nvPr/>
        </p:nvSpPr>
        <p:spPr>
          <a:xfrm>
            <a:off x="457200" y="1115568"/>
            <a:ext cx="11277295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lead-text"/>
          <p:cNvSpPr txBox="1"/>
          <p:nvPr/>
        </p:nvSpPr>
        <p:spPr>
          <a:xfrm>
            <a:off x="594360" y="1161288"/>
            <a:ext cx="11002975" cy="100584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・27日間で計12回投稿（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同日2回なし・最大間隔3日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）。投稿は原則17:00、締切当日のみ残り時間確保のため12:00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・OWV公式へのリポスト依頼は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開始日・中間（11/29）・締切前日（12/11）の計3回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・動画公開投稿をリマインドとして兼用し、「公開告知＋次の目標（あと◯件）」をセットで発信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1127729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914400"/>
                <a:gridCol w="2103120"/>
                <a:gridCol w="4873752"/>
                <a:gridCol w="164592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日付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時刻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種別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投稿内容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OWV公式RP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</a:rPr>
                        <a:t>11/16（月）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本投稿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キャンペーン開始（第1弾ライン300件を告知）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◎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11/17（火）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リマインド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第1弾達成報告＋「あと◯件で第2弾」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11/19（木）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動画公開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第1弾ダイジェスト公開＋次の目標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11/21（土）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リマインド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週末リマインド（進捗）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11/23（月・祝）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動画公開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第2弾ダイジェスト公開＋次の目標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11/26（木）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リマインド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途中経過「あと◯件で第3弾」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</a:rPr>
                        <a:t>11/29（日）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リマインド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中間の山場リマインド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◎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12/3（木）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動画公開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第3弾ダイジェスト公開＋最終ライン2,000件を告知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12/6（日）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リマインド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「ラスト1週間」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12/10（木）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リマインド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「残り3日」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</a:rPr>
                        <a:t>12/11（金）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17:00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リマインド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締切前日（ラストスパート）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8102E"/>
                          </a:solidFill>
                        </a:rPr>
                        <a:t>◎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12/12（土）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12:00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リマインド／動画公開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</a:rPr>
                        <a:t>締切当日「本日23:59まで」→ 第4弾公開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626364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</a:rPr>
              <a:t>※両国国技館公演（12/13）前日に締切。ライブ後のデジタルコンテンツはOWV公式X・d ticket公式Xにて別途公開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457200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600">
                <a:solidFill>
                  <a:srgbClr val="22222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6" type="title" hasCustomPrompt="1"/>
          </p:nvPr>
        </p:nvSpPr>
        <p:spPr>
          <a:xfrm>
            <a:off x="1325880" y="27432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22222"/>
                </a:solidFill>
              </a:rPr>
              <a:t>想定シナリオ　累計リポスト数の推移</a:t>
            </a:r>
            <a:endParaRPr lang="en-US" sz="2800" dirty="0"/>
          </a:p>
        </p:txBody>
      </p:sp>
      <p:sp>
        <p:nvSpPr>
          <p:cNvPr id="3" name="lead-box"/>
          <p:cNvSpPr/>
          <p:nvPr/>
        </p:nvSpPr>
        <p:spPr>
          <a:xfrm>
            <a:off x="457200" y="1115568"/>
            <a:ext cx="11277295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lead-text"/>
          <p:cNvSpPr txBox="1"/>
          <p:nvPr/>
        </p:nvSpPr>
        <p:spPr>
          <a:xfrm>
            <a:off x="594360" y="1161288"/>
            <a:ext cx="11002975" cy="114300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・井上CPの減衰パターンと10/23・10/26の再露出効果をもとに、OWV CPの累計リポスト数を試算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・リマインドなしでは累計約1,000件で頭打ちとなり、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第3弾（1,200件）に届かない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・計画どおり運用すると各ラインを順次達成し、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締切前日（12/11）のOWV公式RPで2,000件に到達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する想定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2514600"/>
          <a:ext cx="786384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549640" y="2606040"/>
          <a:ext cx="318211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81051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試算の前提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値</a:t>
                      </a:r>
                      <a:endParaRPr lang="en-US" sz="12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初日のリポスト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650件（井上509×1.3）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2日目／3日目／以降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初日比 8%／4%／2%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単独リマインド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＋初日比10%（仮置き）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動画公開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＋初日比14%（10/23実績）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8102E"/>
                          </a:solidFill>
                        </a:rPr>
                        <a:t>OWV公式RP併用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8102E"/>
                          </a:solidFill>
                        </a:rPr>
                        <a:t>＋初日比30%（10/26実績）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締切当日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＋初日比15%（仮置き）</a:t>
                      </a:r>
                      <a:endParaRPr lang="en-US" sz="11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619963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</a:rPr>
              <a:t>※初日はアイドルファンの参加意欲を加味して井上CP実績の1.3倍と仮定。初日実績が出た時点で再試算する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457200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600">
                <a:solidFill>
                  <a:srgbClr val="22222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6" type="title" hasCustomPrompt="1"/>
          </p:nvPr>
        </p:nvSpPr>
        <p:spPr>
          <a:xfrm>
            <a:off x="1325880" y="27432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22222"/>
                </a:solidFill>
              </a:rPr>
              <a:t>運用ルール　未達・早期達成への備え</a:t>
            </a:r>
            <a:endParaRPr lang="en-US" sz="2800" dirty="0"/>
          </a:p>
        </p:txBody>
      </p:sp>
      <p:sp>
        <p:nvSpPr>
          <p:cNvPr id="3" name="lead-box"/>
          <p:cNvSpPr/>
          <p:nvPr/>
        </p:nvSpPr>
        <p:spPr>
          <a:xfrm>
            <a:off x="457200" y="1115568"/>
            <a:ext cx="11277295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lead-text"/>
          <p:cNvSpPr txBox="1"/>
          <p:nvPr/>
        </p:nvSpPr>
        <p:spPr>
          <a:xfrm>
            <a:off x="594360" y="1161288"/>
            <a:ext cx="11002975" cy="8229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・試算はあくまで想定のため、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初日の実績を見て後半のラインを見直せる運用</a:t>
            </a:r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にしておく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rgbClr val="222222"/>
                </a:solidFill>
              </a:rPr>
              <a:t>・「未達」「早期達成」どちらに転んでもファンの期待を裏切らないよう、</a:t>
            </a:r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C8102E"/>
                </a:solidFill>
              </a:rPr>
              <a:t>対応方針を事前に規約・投稿文へ反映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1127729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737360"/>
                <a:gridCol w="6885432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ケース</a:t>
                      </a:r>
                      <a:endParaRPr lang="en-US" sz="14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判断タイミング</a:t>
                      </a:r>
                      <a:endParaRPr lang="en-US" sz="14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対応</a:t>
                      </a:r>
                      <a:endParaRPr lang="en-US" sz="14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523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22222"/>
                          </a:solidFill>
                        </a:rPr>
                        <a:t>初日で300件未達</a:t>
                      </a:r>
                      <a:endParaRPr lang="en-US" sz="14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</a:rPr>
                        <a:t>11/17 朝</a:t>
                      </a:r>
                      <a:endParaRPr lang="en-US" sz="14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</a:rPr>
                        <a:t>翌日リマインドで「あと◯件」を強調。第2弾以降のラインは社内判断で下方修正（外部告知は次の目標のみに留める）</a:t>
                      </a:r>
                      <a:endParaRPr lang="en-US" sz="14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22222"/>
                          </a:solidFill>
                        </a:rPr>
                        <a:t>想定より早く2,000件到達</a:t>
                      </a:r>
                      <a:endParaRPr lang="en-US" sz="14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</a:rPr>
                        <a:t>随時</a:t>
                      </a:r>
                      <a:endParaRPr lang="en-US" sz="14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</a:rPr>
                        <a:t>動画の公開日は計画どおり分散。余力があれば「2,000件突破特典」（メンバーコメント等）を追加</a:t>
                      </a:r>
                      <a:endParaRPr lang="en-US" sz="14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22222"/>
                          </a:solidFill>
                        </a:rPr>
                        <a:t>締切時点で未達</a:t>
                      </a:r>
                      <a:endParaRPr lang="en-US" sz="14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</a:rPr>
                        <a:t>12/12</a:t>
                      </a:r>
                      <a:endParaRPr lang="en-US" sz="14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8102E"/>
                          </a:solidFill>
                        </a:rPr>
                        <a:t>規約に「未達の場合もライブ前に一部公開」を明記しておき、炎上を回避</a:t>
                      </a:r>
                      <a:endParaRPr lang="en-US" sz="14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22222"/>
                          </a:solidFill>
                        </a:rPr>
                        <a:t>日次モニタリング</a:t>
                      </a:r>
                      <a:endParaRPr lang="en-US" sz="14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</a:rPr>
                        <a:t>毎日</a:t>
                      </a:r>
                      <a:endParaRPr lang="en-US" sz="14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</a:rPr>
                        <a:t>ポストに表示されるリポスト数を確認し、リマインド文面の残り件数に反映</a:t>
                      </a:r>
                      <a:endParaRPr lang="en-US" sz="1400" dirty="0"/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457200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600">
                <a:solidFill>
                  <a:srgbClr val="22222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ticket">
  <a:themeElements>
    <a:clrScheme name="dticket">
      <a:dk1>
        <a:srgbClr val="222222"/>
      </a:dk1>
      <a:lt1>
        <a:srgbClr val="FFFFFF"/>
      </a:lt1>
      <a:dk2>
        <a:srgbClr val="2B2523"/>
      </a:dk2>
      <a:lt2>
        <a:srgbClr val="F2F2F2"/>
      </a:lt2>
      <a:accent1>
        <a:srgbClr val="C8102E"/>
      </a:accent1>
      <a:accent2>
        <a:srgbClr val="595959"/>
      </a:accent2>
      <a:accent3>
        <a:srgbClr val="A6A6A6"/>
      </a:accent3>
      <a:accent4>
        <a:srgbClr val="404040"/>
      </a:accent4>
      <a:accent5>
        <a:srgbClr val="E8A0A8"/>
      </a:accent5>
      <a:accent6>
        <a:srgbClr val="1F1F1F"/>
      </a:accent6>
      <a:hlink>
        <a:srgbClr val="0563C1"/>
      </a:hlink>
      <a:folHlink>
        <a:srgbClr val="954F72"/>
      </a:folHlink>
    </a:clrScheme>
    <a:fontScheme name="dticket">
      <a:majorFont>
        <a:latin typeface="Meiryo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OWVキャンペーン リマインド投稿・リポスト目標設計</dc:title>
  <dc:subject>PptxGenJS Presentation</dc:subject>
  <dc:creator>PptxGenJS</dc:creator>
  <cp:lastModifiedBy>PptxGenJS</cp:lastModifiedBy>
  <cp:revision>1</cp:revision>
  <dcterms:created xsi:type="dcterms:W3CDTF">2026-10-26T08:47:23Z</dcterms:created>
  <dcterms:modified xsi:type="dcterms:W3CDTF">2026-10-26T08:47:23Z</dcterms:modified>
</cp:coreProperties>
</file>