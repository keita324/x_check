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WV CP リマインド設計" id="{1ce354cd-c976-dfff-a999-663c8ae2090b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日別 リポスト・新しいフォロー（10/14〜10/26）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リポスト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10/14</c:v>
                  </c:pt>
                  <c:pt idx="1">
                    <c:v>10/15</c:v>
                  </c:pt>
                  <c:pt idx="2">
                    <c:v>10/16</c:v>
                  </c:pt>
                  <c:pt idx="3">
                    <c:v>10/17</c:v>
                  </c:pt>
                  <c:pt idx="4">
                    <c:v>10/18</c:v>
                  </c:pt>
                  <c:pt idx="5">
                    <c:v>10/19</c:v>
                  </c:pt>
                  <c:pt idx="6">
                    <c:v>10/20</c:v>
                  </c:pt>
                  <c:pt idx="7">
                    <c:v>10/21</c:v>
                  </c:pt>
                  <c:pt idx="8">
                    <c:v>10/22</c:v>
                  </c:pt>
                  <c:pt idx="9">
                    <c:v>10/23</c:v>
                  </c:pt>
                  <c:pt idx="10">
                    <c:v>10/24</c:v>
                  </c:pt>
                  <c:pt idx="11">
                    <c:v>10/25</c:v>
                  </c:pt>
                  <c:pt idx="12">
                    <c:v>10/26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509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12</c:v>
                </c:pt>
                <c:pt idx="5">
                  <c:v>8</c:v>
                </c:pt>
                <c:pt idx="6">
                  <c:v>5</c:v>
                </c:pt>
                <c:pt idx="7">
                  <c:v>5</c:v>
                </c:pt>
                <c:pt idx="8">
                  <c:v>25</c:v>
                </c:pt>
                <c:pt idx="9">
                  <c:v>70</c:v>
                </c:pt>
                <c:pt idx="10">
                  <c:v>30</c:v>
                </c:pt>
                <c:pt idx="11">
                  <c:v>15</c:v>
                </c:pt>
                <c:pt idx="1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新しいフォロー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10/14</c:v>
                  </c:pt>
                  <c:pt idx="1">
                    <c:v>10/15</c:v>
                  </c:pt>
                  <c:pt idx="2">
                    <c:v>10/16</c:v>
                  </c:pt>
                  <c:pt idx="3">
                    <c:v>10/17</c:v>
                  </c:pt>
                  <c:pt idx="4">
                    <c:v>10/18</c:v>
                  </c:pt>
                  <c:pt idx="5">
                    <c:v>10/19</c:v>
                  </c:pt>
                  <c:pt idx="6">
                    <c:v>10/20</c:v>
                  </c:pt>
                  <c:pt idx="7">
                    <c:v>10/21</c:v>
                  </c:pt>
                  <c:pt idx="8">
                    <c:v>10/22</c:v>
                  </c:pt>
                  <c:pt idx="9">
                    <c:v>10/23</c:v>
                  </c:pt>
                  <c:pt idx="10">
                    <c:v>10/24</c:v>
                  </c:pt>
                  <c:pt idx="11">
                    <c:v>10/25</c:v>
                  </c:pt>
                  <c:pt idx="12">
                    <c:v>10/26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463</c:v>
                </c:pt>
                <c:pt idx="1">
                  <c:v>15</c:v>
                </c:pt>
                <c:pt idx="2">
                  <c:v>8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10</c:v>
                </c:pt>
                <c:pt idx="9">
                  <c:v>5</c:v>
                </c:pt>
                <c:pt idx="10">
                  <c:v>10</c:v>
                </c:pt>
                <c:pt idx="11">
                  <c:v>8</c:v>
                </c:pt>
                <c:pt idx="1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最初の48時間 インプレッション（K）と累計割合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Sheet1!$A$2:$A$49</c:f>
              <c:multiLvlStrCache>
                <c:ptCount val="48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  <c:pt idx="13">
                    <c:v>13h</c:v>
                  </c:pt>
                  <c:pt idx="14">
                    <c:v>14h</c:v>
                  </c:pt>
                  <c:pt idx="15">
                    <c:v>15h</c:v>
                  </c:pt>
                  <c:pt idx="16">
                    <c:v>16h</c:v>
                  </c:pt>
                  <c:pt idx="17">
                    <c:v>17h</c:v>
                  </c:pt>
                  <c:pt idx="18">
                    <c:v>18h</c:v>
                  </c:pt>
                  <c:pt idx="19">
                    <c:v>19h</c:v>
                  </c:pt>
                  <c:pt idx="20">
                    <c:v>20h</c:v>
                  </c:pt>
                  <c:pt idx="21">
                    <c:v>21h</c:v>
                  </c:pt>
                  <c:pt idx="22">
                    <c:v>22h</c:v>
                  </c:pt>
                  <c:pt idx="23">
                    <c:v>23h</c:v>
                  </c:pt>
                  <c:pt idx="24">
                    <c:v>24h</c:v>
                  </c:pt>
                  <c:pt idx="25">
                    <c:v>25h</c:v>
                  </c:pt>
                  <c:pt idx="26">
                    <c:v>26h</c:v>
                  </c:pt>
                  <c:pt idx="27">
                    <c:v>27h</c:v>
                  </c:pt>
                  <c:pt idx="28">
                    <c:v>28h</c:v>
                  </c:pt>
                  <c:pt idx="29">
                    <c:v>29h</c:v>
                  </c:pt>
                  <c:pt idx="30">
                    <c:v>30h</c:v>
                  </c:pt>
                  <c:pt idx="31">
                    <c:v>31h</c:v>
                  </c:pt>
                  <c:pt idx="32">
                    <c:v>32h</c:v>
                  </c:pt>
                  <c:pt idx="33">
                    <c:v>33h</c:v>
                  </c:pt>
                  <c:pt idx="34">
                    <c:v>34h</c:v>
                  </c:pt>
                  <c:pt idx="35">
                    <c:v>35h</c:v>
                  </c:pt>
                  <c:pt idx="36">
                    <c:v>36h</c:v>
                  </c:pt>
                  <c:pt idx="37">
                    <c:v>37h</c:v>
                  </c:pt>
                  <c:pt idx="38">
                    <c:v>38h</c:v>
                  </c:pt>
                  <c:pt idx="39">
                    <c:v>39h</c:v>
                  </c:pt>
                  <c:pt idx="40">
                    <c:v>40h</c:v>
                  </c:pt>
                  <c:pt idx="41">
                    <c:v>41h</c:v>
                  </c:pt>
                  <c:pt idx="42">
                    <c:v>42h</c:v>
                  </c:pt>
                  <c:pt idx="43">
                    <c:v>43h</c:v>
                  </c:pt>
                  <c:pt idx="44">
                    <c:v>44h</c:v>
                  </c:pt>
                  <c:pt idx="45">
                    <c:v>45h</c:v>
                  </c:pt>
                  <c:pt idx="46">
                    <c:v>46h</c:v>
                  </c:pt>
                  <c:pt idx="47">
                    <c:v>47h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</c:v>
                </c:pt>
                <c:pt idx="1">
                  <c:v>3.9</c:v>
                </c:pt>
                <c:pt idx="2">
                  <c:v>1.6</c:v>
                </c:pt>
                <c:pt idx="3">
                  <c:v>1.3</c:v>
                </c:pt>
                <c:pt idx="4">
                  <c:v>1.15</c:v>
                </c:pt>
                <c:pt idx="5">
                  <c:v>1.05</c:v>
                </c:pt>
                <c:pt idx="6">
                  <c:v>1.05</c:v>
                </c:pt>
                <c:pt idx="7">
                  <c:v>1.2</c:v>
                </c:pt>
                <c:pt idx="8">
                  <c:v>1</c:v>
                </c:pt>
                <c:pt idx="9">
                  <c:v>1.15</c:v>
                </c:pt>
                <c:pt idx="10">
                  <c:v>0.85</c:v>
                </c:pt>
                <c:pt idx="11">
                  <c:v>0.6</c:v>
                </c:pt>
                <c:pt idx="12">
                  <c:v>0.4</c:v>
                </c:pt>
                <c:pt idx="13">
                  <c:v>0.3</c:v>
                </c:pt>
                <c:pt idx="14">
                  <c:v>0.2</c:v>
                </c:pt>
                <c:pt idx="15">
                  <c:v>0.15</c:v>
                </c:pt>
                <c:pt idx="16">
                  <c:v>0.12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0.12</c:v>
                </c:pt>
                <c:pt idx="25">
                  <c:v>0.1</c:v>
                </c:pt>
                <c:pt idx="26">
                  <c:v>0.08</c:v>
                </c:pt>
                <c:pt idx="27">
                  <c:v>0.08</c:v>
                </c:pt>
                <c:pt idx="28">
                  <c:v>0.06</c:v>
                </c:pt>
                <c:pt idx="29">
                  <c:v>0.06</c:v>
                </c:pt>
                <c:pt idx="30">
                  <c:v>0.06</c:v>
                </c:pt>
                <c:pt idx="31">
                  <c:v>0.06</c:v>
                </c:pt>
                <c:pt idx="32">
                  <c:v>0.05</c:v>
                </c:pt>
                <c:pt idx="33">
                  <c:v>0.05</c:v>
                </c:pt>
                <c:pt idx="34">
                  <c:v>0.05</c:v>
                </c:pt>
                <c:pt idx="35">
                  <c:v>0.06</c:v>
                </c:pt>
                <c:pt idx="36">
                  <c:v>0.05</c:v>
                </c:pt>
                <c:pt idx="37">
                  <c:v>0.04</c:v>
                </c:pt>
                <c:pt idx="38">
                  <c:v>0.03</c:v>
                </c:pt>
                <c:pt idx="39">
                  <c:v>0.03</c:v>
                </c:pt>
                <c:pt idx="40">
                  <c:v>0.02</c:v>
                </c:pt>
                <c:pt idx="41">
                  <c:v>0.02</c:v>
                </c:pt>
                <c:pt idx="42">
                  <c:v>0.02</c:v>
                </c:pt>
                <c:pt idx="43">
                  <c:v>0.02</c:v>
                </c:pt>
                <c:pt idx="44">
                  <c:v>0.02</c:v>
                </c:pt>
                <c:pt idx="45">
                  <c:v>0.02</c:v>
                </c:pt>
                <c:pt idx="46">
                  <c:v>0.02</c:v>
                </c:pt>
                <c:pt idx="47">
                  <c:v>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17時投稿の上乗せ（想定）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Sheet1!$A$2:$A$49</c:f>
              <c:multiLvlStrCache>
                <c:ptCount val="48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  <c:pt idx="13">
                    <c:v>13h</c:v>
                  </c:pt>
                  <c:pt idx="14">
                    <c:v>14h</c:v>
                  </c:pt>
                  <c:pt idx="15">
                    <c:v>15h</c:v>
                  </c:pt>
                  <c:pt idx="16">
                    <c:v>16h</c:v>
                  </c:pt>
                  <c:pt idx="17">
                    <c:v>17h</c:v>
                  </c:pt>
                  <c:pt idx="18">
                    <c:v>18h</c:v>
                  </c:pt>
                  <c:pt idx="19">
                    <c:v>19h</c:v>
                  </c:pt>
                  <c:pt idx="20">
                    <c:v>20h</c:v>
                  </c:pt>
                  <c:pt idx="21">
                    <c:v>21h</c:v>
                  </c:pt>
                  <c:pt idx="22">
                    <c:v>22h</c:v>
                  </c:pt>
                  <c:pt idx="23">
                    <c:v>23h</c:v>
                  </c:pt>
                  <c:pt idx="24">
                    <c:v>24h</c:v>
                  </c:pt>
                  <c:pt idx="25">
                    <c:v>25h</c:v>
                  </c:pt>
                  <c:pt idx="26">
                    <c:v>26h</c:v>
                  </c:pt>
                  <c:pt idx="27">
                    <c:v>27h</c:v>
                  </c:pt>
                  <c:pt idx="28">
                    <c:v>28h</c:v>
                  </c:pt>
                  <c:pt idx="29">
                    <c:v>29h</c:v>
                  </c:pt>
                  <c:pt idx="30">
                    <c:v>30h</c:v>
                  </c:pt>
                  <c:pt idx="31">
                    <c:v>31h</c:v>
                  </c:pt>
                  <c:pt idx="32">
                    <c:v>32h</c:v>
                  </c:pt>
                  <c:pt idx="33">
                    <c:v>33h</c:v>
                  </c:pt>
                  <c:pt idx="34">
                    <c:v>34h</c:v>
                  </c:pt>
                  <c:pt idx="35">
                    <c:v>35h</c:v>
                  </c:pt>
                  <c:pt idx="36">
                    <c:v>36h</c:v>
                  </c:pt>
                  <c:pt idx="37">
                    <c:v>37h</c:v>
                  </c:pt>
                  <c:pt idx="38">
                    <c:v>38h</c:v>
                  </c:pt>
                  <c:pt idx="39">
                    <c:v>39h</c:v>
                  </c:pt>
                  <c:pt idx="40">
                    <c:v>40h</c:v>
                  </c:pt>
                  <c:pt idx="41">
                    <c:v>41h</c:v>
                  </c:pt>
                  <c:pt idx="42">
                    <c:v>42h</c:v>
                  </c:pt>
                  <c:pt idx="43">
                    <c:v>43h</c:v>
                  </c:pt>
                  <c:pt idx="44">
                    <c:v>44h</c:v>
                  </c:pt>
                  <c:pt idx="45">
                    <c:v>45h</c:v>
                  </c:pt>
                  <c:pt idx="46">
                    <c:v>46h</c:v>
                  </c:pt>
                  <c:pt idx="47">
                    <c:v>47h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0.69</c:v>
                </c:pt>
                <c:pt idx="1">
                  <c:v>2.68</c:v>
                </c:pt>
                <c:pt idx="2">
                  <c:v>1.1</c:v>
                </c:pt>
                <c:pt idx="3">
                  <c:v>0.89</c:v>
                </c:pt>
                <c:pt idx="4">
                  <c:v>0.79</c:v>
                </c:pt>
                <c:pt idx="5">
                  <c:v>0.72</c:v>
                </c:pt>
                <c:pt idx="6">
                  <c:v>0.72</c:v>
                </c:pt>
                <c:pt idx="7">
                  <c:v>0.82</c:v>
                </c:pt>
                <c:pt idx="8">
                  <c:v>0.69</c:v>
                </c:pt>
                <c:pt idx="9">
                  <c:v>0.79</c:v>
                </c:pt>
                <c:pt idx="10">
                  <c:v>0.58</c:v>
                </c:pt>
                <c:pt idx="11">
                  <c:v>0.41</c:v>
                </c:pt>
                <c:pt idx="12">
                  <c:v>0.27</c:v>
                </c:pt>
                <c:pt idx="13">
                  <c:v>0.21</c:v>
                </c:pt>
                <c:pt idx="14">
                  <c:v>0.14</c:v>
                </c:pt>
                <c:pt idx="15">
                  <c:v>0.1</c:v>
                </c:pt>
                <c:pt idx="16">
                  <c:v>0.08</c:v>
                </c:pt>
                <c:pt idx="17">
                  <c:v>0.07</c:v>
                </c:pt>
                <c:pt idx="18">
                  <c:v>0.07</c:v>
                </c:pt>
                <c:pt idx="19">
                  <c:v>0.07</c:v>
                </c:pt>
                <c:pt idx="20">
                  <c:v>0.07</c:v>
                </c:pt>
                <c:pt idx="21">
                  <c:v>0.07</c:v>
                </c:pt>
                <c:pt idx="22">
                  <c:v>0.07</c:v>
                </c:pt>
                <c:pt idx="23">
                  <c:v>0.07</c:v>
                </c:pt>
                <c:pt idx="24">
                  <c:v>0.08</c:v>
                </c:pt>
                <c:pt idx="25">
                  <c:v>0.07</c:v>
                </c:pt>
                <c:pt idx="26">
                  <c:v>0.05</c:v>
                </c:pt>
                <c:pt idx="27">
                  <c:v>0.05</c:v>
                </c:pt>
                <c:pt idx="28">
                  <c:v>0.04</c:v>
                </c:pt>
                <c:pt idx="29">
                  <c:v>0.04</c:v>
                </c:pt>
                <c:pt idx="30">
                  <c:v>0.04</c:v>
                </c:pt>
                <c:pt idx="31">
                  <c:v>0.04</c:v>
                </c:pt>
                <c:pt idx="32">
                  <c:v>0.03</c:v>
                </c:pt>
                <c:pt idx="33">
                  <c:v>0.03</c:v>
                </c:pt>
                <c:pt idx="34">
                  <c:v>0.03</c:v>
                </c:pt>
                <c:pt idx="35">
                  <c:v>0.04</c:v>
                </c:pt>
                <c:pt idx="36">
                  <c:v>0.03</c:v>
                </c:pt>
                <c:pt idx="37">
                  <c:v>0.03</c:v>
                </c:pt>
                <c:pt idx="38">
                  <c:v>0.02</c:v>
                </c:pt>
                <c:pt idx="39">
                  <c:v>0.02</c:v>
                </c:pt>
                <c:pt idx="40">
                  <c:v>0.01</c:v>
                </c:pt>
                <c:pt idx="41">
                  <c:v>0.01</c:v>
                </c:pt>
                <c:pt idx="42">
                  <c:v>0.01</c:v>
                </c:pt>
                <c:pt idx="43">
                  <c:v>0.01</c:v>
                </c:pt>
                <c:pt idx="44">
                  <c:v>0.01</c:v>
                </c:pt>
                <c:pt idx="45">
                  <c:v>0.01</c:v>
                </c:pt>
                <c:pt idx="46">
                  <c:v>0.01</c:v>
                </c:pt>
                <c:pt idx="47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累計割合（%）</c:v>
                </c:pt>
              </c:strCache>
            </c:strRef>
          </c:tx>
          <c:spPr>
            <a:solidFill>
              <a:srgbClr val="E89A2C"/>
            </a:solidFill>
            <a:ln w="31750" cap="flat">
              <a:solidFill>
                <a:srgbClr val="E89A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9A2C"/>
              </a:solidFill>
              <a:ln w="9525" cap="flat">
                <a:solidFill>
                  <a:srgbClr val="E89A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  <c:pt idx="13">
                    <c:v>13h</c:v>
                  </c:pt>
                  <c:pt idx="14">
                    <c:v>14h</c:v>
                  </c:pt>
                  <c:pt idx="15">
                    <c:v>15h</c:v>
                  </c:pt>
                  <c:pt idx="16">
                    <c:v>16h</c:v>
                  </c:pt>
                  <c:pt idx="17">
                    <c:v>17h</c:v>
                  </c:pt>
                  <c:pt idx="18">
                    <c:v>18h</c:v>
                  </c:pt>
                  <c:pt idx="19">
                    <c:v>19h</c:v>
                  </c:pt>
                  <c:pt idx="20">
                    <c:v>20h</c:v>
                  </c:pt>
                  <c:pt idx="21">
                    <c:v>21h</c:v>
                  </c:pt>
                  <c:pt idx="22">
                    <c:v>22h</c:v>
                  </c:pt>
                  <c:pt idx="23">
                    <c:v>23h</c:v>
                  </c:pt>
                  <c:pt idx="24">
                    <c:v>24h</c:v>
                  </c:pt>
                  <c:pt idx="25">
                    <c:v>25h</c:v>
                  </c:pt>
                  <c:pt idx="26">
                    <c:v>26h</c:v>
                  </c:pt>
                  <c:pt idx="27">
                    <c:v>27h</c:v>
                  </c:pt>
                  <c:pt idx="28">
                    <c:v>28h</c:v>
                  </c:pt>
                  <c:pt idx="29">
                    <c:v>29h</c:v>
                  </c:pt>
                  <c:pt idx="30">
                    <c:v>30h</c:v>
                  </c:pt>
                  <c:pt idx="31">
                    <c:v>31h</c:v>
                  </c:pt>
                  <c:pt idx="32">
                    <c:v>32h</c:v>
                  </c:pt>
                  <c:pt idx="33">
                    <c:v>33h</c:v>
                  </c:pt>
                  <c:pt idx="34">
                    <c:v>34h</c:v>
                  </c:pt>
                  <c:pt idx="35">
                    <c:v>35h</c:v>
                  </c:pt>
                  <c:pt idx="36">
                    <c:v>36h</c:v>
                  </c:pt>
                  <c:pt idx="37">
                    <c:v>37h</c:v>
                  </c:pt>
                  <c:pt idx="38">
                    <c:v>38h</c:v>
                  </c:pt>
                  <c:pt idx="39">
                    <c:v>39h</c:v>
                  </c:pt>
                  <c:pt idx="40">
                    <c:v>40h</c:v>
                  </c:pt>
                  <c:pt idx="41">
                    <c:v>41h</c:v>
                  </c:pt>
                  <c:pt idx="42">
                    <c:v>42h</c:v>
                  </c:pt>
                  <c:pt idx="43">
                    <c:v>43h</c:v>
                  </c:pt>
                  <c:pt idx="44">
                    <c:v>44h</c:v>
                  </c:pt>
                  <c:pt idx="45">
                    <c:v>45h</c:v>
                  </c:pt>
                  <c:pt idx="46">
                    <c:v>46h</c:v>
                  </c:pt>
                  <c:pt idx="47">
                    <c:v>47h</c:v>
                  </c:pt>
                </c:lvl>
              </c:multiLvlStrCache>
            </c:multiLvlStrRef>
          </c:cat>
          <c:val>
            <c:numRef>
              <c:f>Sheet1!$D$2:$D$49</c:f>
              <c:numCache>
                <c:formatCode>General</c:formatCode>
                <c:ptCount val="48"/>
                <c:pt idx="0">
                  <c:v>5</c:v>
                </c:pt>
                <c:pt idx="1">
                  <c:v>26</c:v>
                </c:pt>
                <c:pt idx="2">
                  <c:v>34</c:v>
                </c:pt>
                <c:pt idx="3">
                  <c:v>41</c:v>
                </c:pt>
                <c:pt idx="4">
                  <c:v>47</c:v>
                </c:pt>
                <c:pt idx="5">
                  <c:v>53</c:v>
                </c:pt>
                <c:pt idx="6">
                  <c:v>59</c:v>
                </c:pt>
                <c:pt idx="7">
                  <c:v>65</c:v>
                </c:pt>
                <c:pt idx="8">
                  <c:v>70</c:v>
                </c:pt>
                <c:pt idx="9">
                  <c:v>76</c:v>
                </c:pt>
                <c:pt idx="10">
                  <c:v>81</c:v>
                </c:pt>
                <c:pt idx="11">
                  <c:v>84</c:v>
                </c:pt>
                <c:pt idx="12">
                  <c:v>86</c:v>
                </c:pt>
                <c:pt idx="13">
                  <c:v>88</c:v>
                </c:pt>
                <c:pt idx="14">
                  <c:v>89</c:v>
                </c:pt>
                <c:pt idx="15">
                  <c:v>90</c:v>
                </c:pt>
                <c:pt idx="16">
                  <c:v>90</c:v>
                </c:pt>
                <c:pt idx="17">
                  <c:v>91</c:v>
                </c:pt>
                <c:pt idx="18">
                  <c:v>91</c:v>
                </c:pt>
                <c:pt idx="19">
                  <c:v>92</c:v>
                </c:pt>
                <c:pt idx="20">
                  <c:v>92</c:v>
                </c:pt>
                <c:pt idx="21">
                  <c:v>93</c:v>
                </c:pt>
                <c:pt idx="22">
                  <c:v>93</c:v>
                </c:pt>
                <c:pt idx="23">
                  <c:v>94</c:v>
                </c:pt>
                <c:pt idx="24">
                  <c:v>95</c:v>
                </c:pt>
                <c:pt idx="25">
                  <c:v>95</c:v>
                </c:pt>
                <c:pt idx="26">
                  <c:v>96</c:v>
                </c:pt>
                <c:pt idx="27">
                  <c:v>96</c:v>
                </c:pt>
                <c:pt idx="28">
                  <c:v>96</c:v>
                </c:pt>
                <c:pt idx="29">
                  <c:v>97</c:v>
                </c:pt>
                <c:pt idx="30">
                  <c:v>97</c:v>
                </c:pt>
                <c:pt idx="31">
                  <c:v>97</c:v>
                </c:pt>
                <c:pt idx="32">
                  <c:v>98</c:v>
                </c:pt>
                <c:pt idx="33">
                  <c:v>98</c:v>
                </c:pt>
                <c:pt idx="34">
                  <c:v>98</c:v>
                </c:pt>
                <c:pt idx="35">
                  <c:v>98</c:v>
                </c:pt>
                <c:pt idx="36">
                  <c:v>99</c:v>
                </c:pt>
                <c:pt idx="37">
                  <c:v>99</c:v>
                </c:pt>
                <c:pt idx="38">
                  <c:v>99</c:v>
                </c:pt>
                <c:pt idx="39">
                  <c:v>99</c:v>
                </c:pt>
                <c:pt idx="40">
                  <c:v>99</c:v>
                </c:pt>
                <c:pt idx="41">
                  <c:v>99</c:v>
                </c:pt>
                <c:pt idx="42">
                  <c:v>99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valAx>
        <c:axId val="2094734553"/>
        <c:scaling>
          <c:orientation val="minMax"/>
          <c:max val="10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0761A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  <c:majorUnit val="25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時間帯別 平均ビュー（競合5社・9月）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平均ビュー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09-11時</c:v>
                  </c:pt>
                  <c:pt idx="1">
                    <c:v>12-14時</c:v>
                  </c:pt>
                  <c:pt idx="2">
                    <c:v>15-17時</c:v>
                  </c:pt>
                  <c:pt idx="3">
                    <c:v>18-20時</c:v>
                  </c:pt>
                  <c:pt idx="4">
                    <c:v>21-23時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10792</c:v>
                </c:pt>
                <c:pt idx="1">
                  <c:v>13772</c:v>
                </c:pt>
                <c:pt idx="2">
                  <c:v>23219</c:v>
                </c:pt>
                <c:pt idx="3">
                  <c:v>16218</c:v>
                </c:pt>
                <c:pt idx="4">
                  <c:v>12756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日別リポスト数の想定（新スケジュール）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自然減衰（ベース）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650</c:v>
                </c:pt>
                <c:pt idx="1">
                  <c:v>52</c:v>
                </c:pt>
                <c:pt idx="2">
                  <c:v>26</c:v>
                </c:pt>
                <c:pt idx="3">
                  <c:v>13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13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13</c:v>
                </c:pt>
                <c:pt idx="21">
                  <c:v>13</c:v>
                </c:pt>
                <c:pt idx="22">
                  <c:v>13</c:v>
                </c:pt>
                <c:pt idx="23">
                  <c:v>13</c:v>
                </c:pt>
                <c:pt idx="24">
                  <c:v>13</c:v>
                </c:pt>
                <c:pt idx="25">
                  <c:v>13</c:v>
                </c:pt>
                <c:pt idx="26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17時投稿の上乗せ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0</c:v>
                </c:pt>
                <c:pt idx="1">
                  <c:v>65</c:v>
                </c:pt>
                <c:pt idx="2">
                  <c:v>0</c:v>
                </c:pt>
                <c:pt idx="3">
                  <c:v>91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195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65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</c:v>
                </c:pt>
                <c:pt idx="25">
                  <c:v>195</c:v>
                </c:pt>
                <c:pt idx="2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12時投稿の上乗せ（AB）</c:v>
                </c:pt>
              </c:strCache>
            </c:strRef>
          </c:tx>
          <c:spPr>
            <a:solidFill>
              <a:srgbClr val="F2A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39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54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累計リポスト数の想定（11/16〜12/12）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新スケジュール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650</c:v>
                </c:pt>
                <c:pt idx="1">
                  <c:v>767</c:v>
                </c:pt>
                <c:pt idx="2">
                  <c:v>793</c:v>
                </c:pt>
                <c:pt idx="3">
                  <c:v>897</c:v>
                </c:pt>
                <c:pt idx="4">
                  <c:v>910</c:v>
                </c:pt>
                <c:pt idx="5">
                  <c:v>923</c:v>
                </c:pt>
                <c:pt idx="6">
                  <c:v>936</c:v>
                </c:pt>
                <c:pt idx="7">
                  <c:v>1040</c:v>
                </c:pt>
                <c:pt idx="8">
                  <c:v>1053</c:v>
                </c:pt>
                <c:pt idx="9">
                  <c:v>1066</c:v>
                </c:pt>
                <c:pt idx="10">
                  <c:v>1118</c:v>
                </c:pt>
                <c:pt idx="11">
                  <c:v>1131</c:v>
                </c:pt>
                <c:pt idx="12">
                  <c:v>1144</c:v>
                </c:pt>
                <c:pt idx="13">
                  <c:v>1352</c:v>
                </c:pt>
                <c:pt idx="14">
                  <c:v>1365</c:v>
                </c:pt>
                <c:pt idx="15">
                  <c:v>1378</c:v>
                </c:pt>
                <c:pt idx="16">
                  <c:v>1391</c:v>
                </c:pt>
                <c:pt idx="17">
                  <c:v>1458</c:v>
                </c:pt>
                <c:pt idx="18">
                  <c:v>1471</c:v>
                </c:pt>
                <c:pt idx="19">
                  <c:v>1484</c:v>
                </c:pt>
                <c:pt idx="20">
                  <c:v>1562</c:v>
                </c:pt>
                <c:pt idx="21">
                  <c:v>1575</c:v>
                </c:pt>
                <c:pt idx="22">
                  <c:v>1588</c:v>
                </c:pt>
                <c:pt idx="23">
                  <c:v>1601</c:v>
                </c:pt>
                <c:pt idx="24">
                  <c:v>1679</c:v>
                </c:pt>
                <c:pt idx="25">
                  <c:v>1887</c:v>
                </c:pt>
                <c:pt idx="26">
                  <c:v>1957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リマインドなし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650</c:v>
                </c:pt>
                <c:pt idx="1">
                  <c:v>702</c:v>
                </c:pt>
                <c:pt idx="2">
                  <c:v>728</c:v>
                </c:pt>
                <c:pt idx="3">
                  <c:v>741</c:v>
                </c:pt>
                <c:pt idx="4">
                  <c:v>754</c:v>
                </c:pt>
                <c:pt idx="5">
                  <c:v>767</c:v>
                </c:pt>
                <c:pt idx="6">
                  <c:v>780</c:v>
                </c:pt>
                <c:pt idx="7">
                  <c:v>793</c:v>
                </c:pt>
                <c:pt idx="8">
                  <c:v>806</c:v>
                </c:pt>
                <c:pt idx="9">
                  <c:v>819</c:v>
                </c:pt>
                <c:pt idx="10">
                  <c:v>832</c:v>
                </c:pt>
                <c:pt idx="11">
                  <c:v>845</c:v>
                </c:pt>
                <c:pt idx="12">
                  <c:v>858</c:v>
                </c:pt>
                <c:pt idx="13">
                  <c:v>871</c:v>
                </c:pt>
                <c:pt idx="14">
                  <c:v>884</c:v>
                </c:pt>
                <c:pt idx="15">
                  <c:v>897</c:v>
                </c:pt>
                <c:pt idx="16">
                  <c:v>910</c:v>
                </c:pt>
                <c:pt idx="17">
                  <c:v>923</c:v>
                </c:pt>
                <c:pt idx="18">
                  <c:v>936</c:v>
                </c:pt>
                <c:pt idx="19">
                  <c:v>949</c:v>
                </c:pt>
                <c:pt idx="20">
                  <c:v>962</c:v>
                </c:pt>
                <c:pt idx="21">
                  <c:v>975</c:v>
                </c:pt>
                <c:pt idx="22">
                  <c:v>988</c:v>
                </c:pt>
                <c:pt idx="23">
                  <c:v>1001</c:v>
                </c:pt>
                <c:pt idx="24">
                  <c:v>1014</c:v>
                </c:pt>
                <c:pt idx="25">
                  <c:v>1027</c:v>
                </c:pt>
                <c:pt idx="26">
                  <c:v>1040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公開ライン</c:v>
                </c:pt>
              </c:strCache>
            </c:strRef>
          </c:tx>
          <c:spPr>
            <a:solidFill>
              <a:srgbClr val="D0D0D0"/>
            </a:solidFill>
            <a:ln w="25400" cap="flat">
              <a:solidFill>
                <a:srgbClr val="D0D0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D0D0"/>
              </a:solidFill>
              <a:ln w="9525" cap="flat">
                <a:solidFill>
                  <a:srgbClr val="D0D0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300</c:v>
                </c:pt>
                <c:pt idx="10">
                  <c:v>300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300</c:v>
                </c:pt>
                <c:pt idx="15">
                  <c:v>300</c:v>
                </c:pt>
                <c:pt idx="16">
                  <c:v>300</c:v>
                </c:pt>
                <c:pt idx="17">
                  <c:v>300</c:v>
                </c:pt>
                <c:pt idx="18">
                  <c:v>300</c:v>
                </c:pt>
                <c:pt idx="19">
                  <c:v>300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300</c:v>
                </c:pt>
                <c:pt idx="24">
                  <c:v>300</c:v>
                </c:pt>
                <c:pt idx="25">
                  <c:v>300</c:v>
                </c:pt>
                <c:pt idx="26">
                  <c:v>300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700</c:v>
                </c:pt>
              </c:strCache>
            </c:strRef>
          </c:tx>
          <c:spPr>
            <a:solidFill>
              <a:srgbClr val="D0D0D0"/>
            </a:solidFill>
            <a:ln w="25400" cap="flat">
              <a:solidFill>
                <a:srgbClr val="D0D0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D0D0"/>
              </a:solidFill>
              <a:ln w="9525" cap="flat">
                <a:solidFill>
                  <a:srgbClr val="D0D0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700</c:v>
                </c:pt>
                <c:pt idx="1">
                  <c:v>700</c:v>
                </c:pt>
                <c:pt idx="2">
                  <c:v>700</c:v>
                </c:pt>
                <c:pt idx="3">
                  <c:v>700</c:v>
                </c:pt>
                <c:pt idx="4">
                  <c:v>700</c:v>
                </c:pt>
                <c:pt idx="5">
                  <c:v>700</c:v>
                </c:pt>
                <c:pt idx="6">
                  <c:v>700</c:v>
                </c:pt>
                <c:pt idx="7">
                  <c:v>700</c:v>
                </c:pt>
                <c:pt idx="8">
                  <c:v>700</c:v>
                </c:pt>
                <c:pt idx="9">
                  <c:v>700</c:v>
                </c:pt>
                <c:pt idx="10">
                  <c:v>700</c:v>
                </c:pt>
                <c:pt idx="11">
                  <c:v>700</c:v>
                </c:pt>
                <c:pt idx="12">
                  <c:v>700</c:v>
                </c:pt>
                <c:pt idx="13">
                  <c:v>700</c:v>
                </c:pt>
                <c:pt idx="14">
                  <c:v>700</c:v>
                </c:pt>
                <c:pt idx="15">
                  <c:v>700</c:v>
                </c:pt>
                <c:pt idx="16">
                  <c:v>700</c:v>
                </c:pt>
                <c:pt idx="17">
                  <c:v>700</c:v>
                </c:pt>
                <c:pt idx="18">
                  <c:v>700</c:v>
                </c:pt>
                <c:pt idx="19">
                  <c:v>700</c:v>
                </c:pt>
                <c:pt idx="20">
                  <c:v>700</c:v>
                </c:pt>
                <c:pt idx="21">
                  <c:v>700</c:v>
                </c:pt>
                <c:pt idx="22">
                  <c:v>700</c:v>
                </c:pt>
                <c:pt idx="23">
                  <c:v>700</c:v>
                </c:pt>
                <c:pt idx="24">
                  <c:v>700</c:v>
                </c:pt>
                <c:pt idx="25">
                  <c:v>700</c:v>
                </c:pt>
                <c:pt idx="26">
                  <c:v>700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1,200</c:v>
                </c:pt>
              </c:strCache>
            </c:strRef>
          </c:tx>
          <c:spPr>
            <a:solidFill>
              <a:srgbClr val="D0D0D0"/>
            </a:solidFill>
            <a:ln w="25400" cap="flat">
              <a:solidFill>
                <a:srgbClr val="D0D0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D0D0"/>
              </a:solidFill>
              <a:ln w="9525" cap="flat">
                <a:solidFill>
                  <a:srgbClr val="D0D0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1200</c:v>
                </c:pt>
                <c:pt idx="1">
                  <c:v>1200</c:v>
                </c:pt>
                <c:pt idx="2">
                  <c:v>1200</c:v>
                </c:pt>
                <c:pt idx="3">
                  <c:v>1200</c:v>
                </c:pt>
                <c:pt idx="4">
                  <c:v>1200</c:v>
                </c:pt>
                <c:pt idx="5">
                  <c:v>1200</c:v>
                </c:pt>
                <c:pt idx="6">
                  <c:v>1200</c:v>
                </c:pt>
                <c:pt idx="7">
                  <c:v>1200</c:v>
                </c:pt>
                <c:pt idx="8">
                  <c:v>1200</c:v>
                </c:pt>
                <c:pt idx="9">
                  <c:v>1200</c:v>
                </c:pt>
                <c:pt idx="10">
                  <c:v>1200</c:v>
                </c:pt>
                <c:pt idx="11">
                  <c:v>1200</c:v>
                </c:pt>
                <c:pt idx="12">
                  <c:v>1200</c:v>
                </c:pt>
                <c:pt idx="13">
                  <c:v>1200</c:v>
                </c:pt>
                <c:pt idx="14">
                  <c:v>1200</c:v>
                </c:pt>
                <c:pt idx="15">
                  <c:v>1200</c:v>
                </c:pt>
                <c:pt idx="16">
                  <c:v>1200</c:v>
                </c:pt>
                <c:pt idx="17">
                  <c:v>1200</c:v>
                </c:pt>
                <c:pt idx="18">
                  <c:v>1200</c:v>
                </c:pt>
                <c:pt idx="19">
                  <c:v>1200</c:v>
                </c:pt>
                <c:pt idx="20">
                  <c:v>1200</c:v>
                </c:pt>
                <c:pt idx="21">
                  <c:v>1200</c:v>
                </c:pt>
                <c:pt idx="22">
                  <c:v>1200</c:v>
                </c:pt>
                <c:pt idx="23">
                  <c:v>1200</c:v>
                </c:pt>
                <c:pt idx="24">
                  <c:v>1200</c:v>
                </c:pt>
                <c:pt idx="25">
                  <c:v>1200</c:v>
                </c:pt>
                <c:pt idx="26">
                  <c:v>1200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2,000</c:v>
                </c:pt>
              </c:strCache>
            </c:strRef>
          </c:tx>
          <c:spPr>
            <a:solidFill>
              <a:srgbClr val="D0D0D0"/>
            </a:solidFill>
            <a:ln w="25400" cap="flat">
              <a:solidFill>
                <a:srgbClr val="D0D0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D0D0"/>
              </a:solidFill>
              <a:ln w="9525" cap="flat">
                <a:solidFill>
                  <a:srgbClr val="D0D0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11/16</c:v>
                  </c:pt>
                  <c:pt idx="1">
                    <c:v>11/17</c:v>
                  </c:pt>
                  <c:pt idx="2">
                    <c:v>11/18</c:v>
                  </c:pt>
                  <c:pt idx="3">
                    <c:v>11/19</c:v>
                  </c:pt>
                  <c:pt idx="4">
                    <c:v>11/20</c:v>
                  </c:pt>
                  <c:pt idx="5">
                    <c:v>11/21</c:v>
                  </c:pt>
                  <c:pt idx="6">
                    <c:v>11/22</c:v>
                  </c:pt>
                  <c:pt idx="7">
                    <c:v>11/23</c:v>
                  </c:pt>
                  <c:pt idx="8">
                    <c:v>11/24</c:v>
                  </c:pt>
                  <c:pt idx="9">
                    <c:v>11/25</c:v>
                  </c:pt>
                  <c:pt idx="10">
                    <c:v>11/26</c:v>
                  </c:pt>
                  <c:pt idx="11">
                    <c:v>11/27</c:v>
                  </c:pt>
                  <c:pt idx="12">
                    <c:v>11/28</c:v>
                  </c:pt>
                  <c:pt idx="13">
                    <c:v>11/29</c:v>
                  </c:pt>
                  <c:pt idx="14">
                    <c:v>11/30</c:v>
                  </c:pt>
                  <c:pt idx="15">
                    <c:v>12/1</c:v>
                  </c:pt>
                  <c:pt idx="16">
                    <c:v>12/2</c:v>
                  </c:pt>
                  <c:pt idx="17">
                    <c:v>12/3</c:v>
                  </c:pt>
                  <c:pt idx="18">
                    <c:v>12/4</c:v>
                  </c:pt>
                  <c:pt idx="19">
                    <c:v>12/5</c:v>
                  </c:pt>
                  <c:pt idx="20">
                    <c:v>12/6</c:v>
                  </c:pt>
                  <c:pt idx="21">
                    <c:v>12/7</c:v>
                  </c:pt>
                  <c:pt idx="22">
                    <c:v>12/8</c:v>
                  </c:pt>
                  <c:pt idx="23">
                    <c:v>12/9</c:v>
                  </c:pt>
                  <c:pt idx="24">
                    <c:v>12/10</c:v>
                  </c:pt>
                  <c:pt idx="25">
                    <c:v>12/11</c:v>
                  </c:pt>
                  <c:pt idx="26">
                    <c:v>12/12</c:v>
                  </c:pt>
                </c:lvl>
              </c:multiLvlStrCache>
            </c:multiLvlStrRef>
          </c:cat>
          <c:val>
            <c:numRef>
              <c:f>Sheet1!$G$2:$G$28</c:f>
              <c:numCache>
                <c:formatCode>General</c:formatCode>
                <c:ptCount val="27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  <c:pt idx="12">
                  <c:v>2000</c:v>
                </c:pt>
                <c:pt idx="13">
                  <c:v>2000</c:v>
                </c:pt>
                <c:pt idx="14">
                  <c:v>2000</c:v>
                </c:pt>
                <c:pt idx="15">
                  <c:v>2000</c:v>
                </c:pt>
                <c:pt idx="16">
                  <c:v>2000</c:v>
                </c:pt>
                <c:pt idx="17">
                  <c:v>2000</c:v>
                </c:pt>
                <c:pt idx="18">
                  <c:v>2000</c:v>
                </c:pt>
                <c:pt idx="19">
                  <c:v>2000</c:v>
                </c:pt>
                <c:pt idx="20">
                  <c:v>2000</c:v>
                </c:pt>
                <c:pt idx="21">
                  <c:v>2000</c:v>
                </c:pt>
                <c:pt idx="22">
                  <c:v>2000</c:v>
                </c:pt>
                <c:pt idx="23">
                  <c:v>2000</c:v>
                </c:pt>
                <c:pt idx="24">
                  <c:v>2000</c:v>
                </c:pt>
                <c:pt idx="25">
                  <c:v>2000</c:v>
                </c:pt>
                <c:pt idx="26">
                  <c:v>2000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250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47472"/>
            <a:ext cx="82296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32688"/>
            <a:ext cx="11551615" cy="0"/>
          </a:xfrm>
          <a:prstGeom prst="line">
            <a:avLst/>
          </a:prstGeom>
          <a:noFill/>
          <a:ln w="28575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0152" y="164592"/>
            <a:ext cx="15087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0152" y="1645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秘密度 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NTTdocomo Co., Ltd. All Rights Reserved.</a:t>
            </a:r>
            <a:endParaRPr lang="en-US" sz="8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2222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005840" cy="2011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4114800"/>
            <a:ext cx="10332720" cy="0"/>
          </a:xfrm>
          <a:prstGeom prst="line">
            <a:avLst/>
          </a:prstGeom>
          <a:noFill/>
          <a:ln w="2857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NTTdocomo Co., Ltd. All Rights Reserved.</a:t>
            </a:r>
            <a:endParaRPr lang="en-US" sz="8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371600" y="2011680"/>
            <a:ext cx="10332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22222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井上尚弥CPの実績　勢いは半日、出し直せば戻る</a:t>
            </a:r>
            <a:endParaRPr lang="en-US" sz="2800" dirty="0"/>
          </a:p>
        </p:txBody>
      </p:sp>
      <p:sp>
        <p:nvSpPr>
          <p:cNvPr id="3" name="lead-box"/>
          <p:cNvSpPr/>
          <p:nvPr/>
        </p:nvSpPr>
        <p:spPr>
          <a:xfrm>
            <a:off x="457200" y="1115568"/>
            <a:ext cx="112772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lead-text"/>
          <p:cNvSpPr txBox="1"/>
          <p:nvPr/>
        </p:nvSpPr>
        <p:spPr>
          <a:xfrm>
            <a:off x="594360" y="1161288"/>
            <a:ext cx="11002975" cy="11430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・リポストの73%（509/696件）が初日に集中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。勢いは約半日で尽き、2日目以降は1日10〜20件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・10/26の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リマインド＋本家グッズアカウントのリポストで、開始12日後でも約150件（初日の約3割）まで回復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・→ OWV CPは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翌日から2〜3日おきに再露出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し、山場は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OWV公式のリポストを併用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する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1460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2514600"/>
          <a:ext cx="5330952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uplift-callout"/>
          <p:cNvSpPr txBox="1"/>
          <p:nvPr/>
        </p:nvSpPr>
        <p:spPr>
          <a:xfrm>
            <a:off x="8229600" y="461772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48時間合計（概算）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実績 18.9K → 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31.8K（約1.7倍）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※値はグラフ目視読み取りの概算。17時投稿の想定：実績を12-14時台投稿と仮定し、競合調査の平均ビュー比1.69倍（15-17時台÷12-14時台）で換算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投稿時間帯　15-17時台が最も見られる</a:t>
            </a:r>
            <a:endParaRPr lang="en-US" sz="2800" dirty="0"/>
          </a:p>
        </p:txBody>
      </p:sp>
      <p:sp>
        <p:nvSpPr>
          <p:cNvPr id="3" name="lead-box"/>
          <p:cNvSpPr/>
          <p:nvPr/>
        </p:nvSpPr>
        <p:spPr>
          <a:xfrm>
            <a:off x="457200" y="1115568"/>
            <a:ext cx="112772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lead-text"/>
          <p:cNvSpPr txBox="1"/>
          <p:nvPr/>
        </p:nvSpPr>
        <p:spPr>
          <a:xfrm>
            <a:off x="594360" y="1161288"/>
            <a:ext cx="11002975" cy="11430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・9月競合調査（チケット各社）では、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平均ビューは15-17時台が最大（23,219）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で、他時間帯の1.4〜2.2倍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・18-20時台は投稿件数が最多（90件）で競合投稿が混み合う。ERは時間帯による差がほぼ無い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・→ 運用上限（18時）の範囲で最も伸びるため、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本投稿・リマインドは原則17:00に統一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（締切当日のみ12:00）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14600"/>
          <a:ext cx="65836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606040"/>
          <a:ext cx="4416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1353312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時間帯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平均ビュー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平均ER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09-11時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10,792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0.46%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12-14時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61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13,772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0.38%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15-17時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23,219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0.46%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18-20時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16,218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0.48%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21-23時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12,756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0.28%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当社の投稿可能時間：〜18時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※出典：9月 競合アカウント調査（ローチケ・チケットぴあ・イープラス・楽天チケット・d ticket、ローチケ・ぴあはサンプリング抽出）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投稿スケジュール　11/16（月）〜12/12（土）</a:t>
            </a:r>
            <a:endParaRPr lang="en-US" sz="2800" dirty="0"/>
          </a:p>
        </p:txBody>
      </p:sp>
      <p:sp>
        <p:nvSpPr>
          <p:cNvPr id="3" name="lead-box"/>
          <p:cNvSpPr/>
          <p:nvPr/>
        </p:nvSpPr>
        <p:spPr>
          <a:xfrm>
            <a:off x="457200" y="1115568"/>
            <a:ext cx="112772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lead-text"/>
          <p:cNvSpPr txBox="1"/>
          <p:nvPr/>
        </p:nvSpPr>
        <p:spPr>
          <a:xfrm>
            <a:off x="594360" y="1161288"/>
            <a:ext cx="11002975" cy="11430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・27日間で計11回（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土曜は締切当日の予約投稿のみ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）。原則17:00、OWV公式RPは11/16・11/29・12/11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・12時 vs 17時のABテストを木曜で実施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：動画 11/19(17時)×12/3(12時)、リマインド 11/26(12時)×12/10(17時)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・実施順を入れ替えて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前半・後半の時期の影響を相殺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。評価指標は投稿後24時間のインプレッション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7729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  <a:gridCol w="1417320"/>
                <a:gridCol w="4782312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日付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時刻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種別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投稿内容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ABテスト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OWV公式RP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11/16（月）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本投稿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キャンペーン開始（第1弾ライン300件を告知）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◎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11/17（火）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第1弾達成報告＋「あと◯件で第2弾」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11/19（木）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動画公開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第1弾ダイジェスト公開＋次の目標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A：17時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11/23（月・祝）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動画公開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第2弾ダイジェスト公開＋次の目標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11/26（木）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12:00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途中経過「あと◯件で第3弾」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B：12時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11/29（日）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中間の山場リマインド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◎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12/3（木）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12:00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動画公開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第3弾ダイジェスト公開＋最終ライン2,000件を告知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B：12時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12/6（日）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「ラスト1週間」（動画ペアの結果で時刻を見直し）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12/10（木）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「残り3日」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A：17時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12/11（金）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リマインド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締切前日（ラストスパート）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</a:rPr>
                        <a:t>◎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12/12（土）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12:00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予約投稿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締切当日「本日23:59まで」＋第4弾公開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※11/21（土）のリマインドを削除（土曜対応不可のため）。12/12は予約投稿とし、文面は12/11夜の到達状況で確定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リマインドの狙い　いつ・何のために打つか</a:t>
            </a:r>
            <a:endParaRPr lang="en-US" sz="2800" dirty="0"/>
          </a:p>
        </p:txBody>
      </p:sp>
      <p:sp>
        <p:nvSpPr>
          <p:cNvPr id="3" name="lead-box"/>
          <p:cNvSpPr/>
          <p:nvPr/>
        </p:nvSpPr>
        <p:spPr>
          <a:xfrm>
            <a:off x="457200" y="1115568"/>
            <a:ext cx="112772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lead-text"/>
          <p:cNvSpPr txBox="1"/>
          <p:nvPr/>
        </p:nvSpPr>
        <p:spPr>
          <a:xfrm>
            <a:off x="594360" y="1161288"/>
            <a:ext cx="11002975" cy="11430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・自然減衰だけでは累計約1,040件で止まるため、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勢いが落ちる前に再露出を重ね、日々のリポストを底上げ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する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・新スケジュールの想定累計は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約1,960件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（旧案：約2,130件）。12時枠の効果は17時の約6割と保守的に設定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・→ AB検証で12時の方が伸びれば上振れ。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検証の機会コストは約170件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（土曜削除の分を含む）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14600"/>
          <a:ext cx="68580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0584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初日 650件↑</a:t>
            </a:r>
            <a:endParaRPr lang="en-US" sz="1000" dirty="0"/>
          </a:p>
        </p:txBody>
      </p:sp>
      <p:sp>
        <p:nvSpPr>
          <p:cNvPr id="7" name="intent-0"/>
          <p:cNvSpPr/>
          <p:nvPr/>
        </p:nvSpPr>
        <p:spPr>
          <a:xfrm>
            <a:off x="7498080" y="2560320"/>
            <a:ext cx="4233672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2615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① 翌日リマインド（11/17）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907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勢いが尽きる約24時間後に再露出し、初日の取りこぼしを回収</a:t>
            </a:r>
            <a:endParaRPr lang="en-US" sz="1100" dirty="0"/>
          </a:p>
        </p:txBody>
      </p:sp>
      <p:sp>
        <p:nvSpPr>
          <p:cNvPr id="10" name="intent-1"/>
          <p:cNvSpPr/>
          <p:nvPr/>
        </p:nvSpPr>
        <p:spPr>
          <a:xfrm>
            <a:off x="7498080" y="3456432"/>
            <a:ext cx="4233672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35112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② 動画公開＝リマインド（11/19・23、12/3）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8039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コンテンツで再露出しつつ「次はあと◯件」で次の目標へ誘導</a:t>
            </a:r>
            <a:endParaRPr lang="en-US" sz="1100" dirty="0"/>
          </a:p>
        </p:txBody>
      </p:sp>
      <p:sp>
        <p:nvSpPr>
          <p:cNvPr id="13" name="intent-2"/>
          <p:cNvSpPr/>
          <p:nvPr/>
        </p:nvSpPr>
        <p:spPr>
          <a:xfrm>
            <a:off x="7498080" y="4352544"/>
            <a:ext cx="4233672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4407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</a:rPr>
              <a:t>③ OWV公式RPの山場（11/16・29、12/11）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7000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ファン層に届く関係先RPで初日の約3割を再獲得（10/26実績）</a:t>
            </a:r>
            <a:endParaRPr lang="en-US" sz="1100" dirty="0"/>
          </a:p>
        </p:txBody>
      </p:sp>
      <p:sp>
        <p:nvSpPr>
          <p:cNvPr id="16" name="intent-3"/>
          <p:cNvSpPr/>
          <p:nvPr/>
        </p:nvSpPr>
        <p:spPr>
          <a:xfrm>
            <a:off x="7498080" y="5248656"/>
            <a:ext cx="4233672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5303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④ 締切前の駆け込み（12/6・10・11・12）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5596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残り日数を示して、迷っている層の最後の参加を促す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※試算前提：初日650件（井上実績×1.3）→初日比8%・4%・2%で減衰。上乗せ：リマインド10%・動画公開14%・OWV公式RP30%・締切当日15%、12時投稿は×0.59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132588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動画公開ライン　最大2,000件を4分割</a:t>
            </a:r>
            <a:endParaRPr lang="en-US" sz="2800" dirty="0"/>
          </a:p>
        </p:txBody>
      </p:sp>
      <p:sp>
        <p:nvSpPr>
          <p:cNvPr id="3" name="lead-box"/>
          <p:cNvSpPr/>
          <p:nvPr/>
        </p:nvSpPr>
        <p:spPr>
          <a:xfrm>
            <a:off x="457200" y="1115568"/>
            <a:ext cx="112772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lead-text"/>
          <p:cNvSpPr txBox="1"/>
          <p:nvPr/>
        </p:nvSpPr>
        <p:spPr>
          <a:xfrm>
            <a:off x="594360" y="1161288"/>
            <a:ext cx="11002975" cy="11430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・前半は井上CP実績を基準に「確実に達成できる」水準、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後半はリマインドとOWV公式RPで届く水準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に設定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・試算では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リマインドなしだと約1,040件で頭打ち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。新スケジュールは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8102E"/>
                </a:solidFill>
              </a:rPr>
              <a:t>締切時点で約1,960件（2,000件はストレッチ）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・規約は「◯件達成で公開決定」とし公開日は当社が管理（早期達成でも分散公開）。未達時も「ライブ前に一部公開」を明記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14600"/>
          <a:ext cx="6675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463040" y="2990088"/>
            <a:ext cx="3200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2871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新スケジュール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2990088"/>
            <a:ext cx="320040" cy="0"/>
          </a:xfrm>
          <a:prstGeom prst="line">
            <a:avLst/>
          </a:prstGeom>
          <a:noFill/>
          <a:ln w="31750">
            <a:solidFill>
              <a:srgbClr val="7F7F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2871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リマインドなし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990088"/>
            <a:ext cx="320040" cy="0"/>
          </a:xfrm>
          <a:prstGeom prst="line">
            <a:avLst/>
          </a:prstGeom>
          <a:noFill/>
          <a:ln w="31750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2871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公開ライン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606040"/>
          <a:ext cx="437083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68680"/>
                <a:gridCol w="1993392"/>
                <a:gridCol w="8229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段階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ライン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根拠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達成想定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5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第1弾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</a:rPr>
                        <a:t>300件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井上CP初日（509）の約6割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11/16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第2弾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</a:rPr>
                        <a:t>700件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井上CP合計（696）と同水準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11/17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第3弾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</a:rPr>
                        <a:t>1,200件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リマインド＋動画公開で上乗せ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11/29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第4弾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</a:rPr>
                        <a:t>2,000件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OWV公式RP＋締切の駆け込み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</a:rPr>
                        <a:t>締切前後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" y="619963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※試算前提はP4と同じ。初日実績が出た時点で再試算し、必要に応じて第4弾ラインを見直す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457200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ticket">
  <a:themeElements>
    <a:clrScheme name="dticket">
      <a:dk1>
        <a:srgbClr val="222222"/>
      </a:dk1>
      <a:lt1>
        <a:srgbClr val="FFFFFF"/>
      </a:lt1>
      <a:dk2>
        <a:srgbClr val="2B2523"/>
      </a:dk2>
      <a:lt2>
        <a:srgbClr val="F2F2F2"/>
      </a:lt2>
      <a:accent1>
        <a:srgbClr val="C8102E"/>
      </a:accent1>
      <a:accent2>
        <a:srgbClr val="595959"/>
      </a:accent2>
      <a:accent3>
        <a:srgbClr val="A6A6A6"/>
      </a:accent3>
      <a:accent4>
        <a:srgbClr val="404040"/>
      </a:accent4>
      <a:accent5>
        <a:srgbClr val="E8A0A8"/>
      </a:accent5>
      <a:accent6>
        <a:srgbClr val="1F1F1F"/>
      </a:accent6>
      <a:hlink>
        <a:srgbClr val="0563C1"/>
      </a:hlink>
      <a:folHlink>
        <a:srgbClr val="954F72"/>
      </a:folHlink>
    </a:clrScheme>
    <a:fontScheme name="dticket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OWVキャンペーン リマインド投稿・リポスト目標設計</dc:title>
  <dc:subject>PptxGenJS Presentation</dc:subject>
  <dc:creator>PptxGenJS</dc:creator>
  <cp:lastModifiedBy>PptxGenJS</cp:lastModifiedBy>
  <cp:revision>1</cp:revision>
  <dcterms:created xsi:type="dcterms:W3CDTF">2026-10-26T09:37:16Z</dcterms:created>
  <dcterms:modified xsi:type="dcterms:W3CDTF">2026-10-26T09:37:16Z</dcterms:modified>
</cp:coreProperties>
</file>