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4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紙" id="{a509f191-990b-5ead-b4df-476e1366bc22}">
          <p14:sldIdLst>
            <p14:sldId id="256"/>
          </p14:sldIdLst>
        </p14:section>
        <p14:section name="イントロ" id="{acf15ff3-2e59-1b7a-adec-99a944231384}">
          <p14:sldIdLst>
            <p14:sldId id="257"/>
            <p14:sldId id="258"/>
          </p14:sldIdLst>
        </p14:section>
        <p14:section name="部署・サービス紹介" id="{7181e6db-c802-4c70-2b47-16eb97deaeea}">
          <p14:sldIdLst>
            <p14:sldId id="259"/>
            <p14:sldId id="260"/>
            <p14:sldId id="261"/>
          </p14:sldIdLst>
        </p14:section>
        <p14:section name="担当業務と目標" id="{9dd542d9-1317-d846-c093-4654bc2932c9}">
          <p14:sldIdLst>
            <p14:sldId id="262"/>
            <p14:sldId id="263"/>
          </p14:sldIdLst>
        </p14:section>
        <p14:section name="目標別の取り組み" id="{9876cf41-3a00-0cc4-b137-ce62868965e3}">
          <p14:sldIdLst>
            <p14:sldId id="264"/>
            <p14:sldId id="265"/>
            <p14:sldId id="266"/>
            <p14:sldId id="267"/>
            <p14:sldId id="268"/>
          </p14:sldIdLst>
        </p14:section>
        <p14:section name="アクションプラン" id="{f15d67ba-601a-14a0-38b9-970af35748d1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フォロワー数目標（累計）</c:v>
                </c:pt>
              </c:strCache>
            </c:strRef>
          </c:tx>
          <c:spPr>
            <a:solidFill>
              <a:srgbClr val="CC0033"/>
            </a:solidFill>
            <a:ln w="31750" cap="flat">
              <a:solidFill>
                <a:srgbClr val="CC003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22222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C0033"/>
              </a:solidFill>
              <a:ln w="9525" cap="flat">
                <a:solidFill>
                  <a:srgbClr val="CC003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10月</c:v>
                  </c:pt>
                  <c:pt idx="1">
                    <c:v>11月</c:v>
                  </c:pt>
                  <c:pt idx="2">
                    <c:v>12月</c:v>
                  </c:pt>
                  <c:pt idx="3">
                    <c:v>1月</c:v>
                  </c:pt>
                  <c:pt idx="4">
                    <c:v>2月</c:v>
                  </c:pt>
                  <c:pt idx="5">
                    <c:v>3月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450</c:v>
                </c:pt>
                <c:pt idx="1">
                  <c:v>520</c:v>
                </c:pt>
                <c:pt idx="2">
                  <c:v>750</c:v>
                </c:pt>
                <c:pt idx="3">
                  <c:v>790</c:v>
                </c:pt>
                <c:pt idx="4">
                  <c:v>820</c:v>
                </c:pt>
                <c:pt idx="5">
                  <c:v>850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222222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"/>
          <c:min val="0"/>
        </c:scaling>
        <c:delete val="0"/>
        <c:axPos val="l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777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222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C00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5B5B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31D2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現状</c:v>
                  </c:pt>
                  <c:pt idx="1">
                    <c:v>100%目標</c:v>
                  </c:pt>
                  <c:pt idx="2">
                    <c:v>120%目標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10</c:v>
                </c:pt>
                <c:pt idx="2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2222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777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進捗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222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C00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5B5B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31D2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現状</c:v>
                  </c:pt>
                  <c:pt idx="1">
                    <c:v>100%</c:v>
                  </c:pt>
                  <c:pt idx="2">
                    <c:v>120%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100</c:v>
                </c:pt>
                <c:pt idx="2">
                  <c:v>120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2222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0"/>
        </c:scaling>
        <c:delete val="0"/>
        <c:axPos val="l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777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達成率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222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①Xフォロワー</c:v>
                  </c:pt>
                  <c:pt idx="1">
                    <c:v>②データ提案</c:v>
                  </c:pt>
                  <c:pt idx="2">
                    <c:v>③AIサイト</c:v>
                  </c:pt>
                  <c:pt idx="3">
                    <c:v>④DX-ICT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</c:v>
                </c:pt>
                <c:pt idx="1">
                  <c:v>100</c:v>
                </c:pt>
                <c:pt idx="2">
                  <c:v>200</c:v>
                </c:pt>
                <c:pt idx="3">
                  <c:v>50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2222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0"/>
          <c:min val="0"/>
        </c:scaling>
        <c:delete val="0"/>
        <c:axPos val="b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777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6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932688"/>
            <a:ext cx="11551615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9184"/>
            <a:ext cx="960120" cy="621792"/>
          </a:xfrm>
          <a:prstGeom prst="parallelogram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469880" y="201168"/>
            <a:ext cx="1371600" cy="21945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秘密度C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41280" y="4754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Page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accent3"/>
                </a:solidFill>
              </a:rPr>
              <a:t>©2026 NTT DOCOMO, INC. All Rights Reserved.</a:t>
            </a:r>
            <a:endParaRPr lang="en-US" sz="800" dirty="0"/>
          </a:p>
        </p:txBody>
      </p:sp>
      <p:sp>
        <p:nvSpPr>
          <p:cNvPr id="7" name="Text 5"/>
          <p:cNvSpPr/>
          <p:nvPr>
            <p:ph idx="105" type="title" hasCustomPrompt="1"/>
          </p:nvPr>
        </p:nvSpPr>
        <p:spPr>
          <a:xfrm>
            <a:off x="1463040" y="329184"/>
            <a:ext cx="8778240" cy="58521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475488"/>
            <a:ext cx="640080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accent3"/>
                </a:solidFill>
              </a:rPr>
              <a:t>Confidential ©2026 NTT DOCOMO, INC. All Rights Reserved.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475488"/>
            <a:ext cx="640080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5760720" cy="566928"/>
          </a:xfrm>
          <a:prstGeom prst="parallelogram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38404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EP部　PF推進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778240" y="320040"/>
            <a:ext cx="3063240" cy="86868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chemeClr val="tx1"/>
                </a:solidFill>
              </a:rPr>
              <a:t>秘密度 C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作成者：EP部PF推進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作成日：2026/10/7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廃棄日：2027/3/末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2240280"/>
            <a:ext cx="10424160" cy="17830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4231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目標宣言資料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3756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FY26 下期　d ticket の集客・データ・AI 推進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44348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EP部 PF推進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室谷 佳汰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1463040" y="329184"/>
            <a:ext cx="8778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アジェンダ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463040"/>
          <a:ext cx="99669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017520"/>
                <a:gridCol w="5120640"/>
                <a:gridCol w="10058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No.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頁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部署・サービス紹介</a:t>
                      </a:r>
                      <a:endParaRPr lang="en-US" sz="1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エンターテイメントプラットフォーム部と d ticket の概要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P.4–6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私の担当業務</a:t>
                      </a:r>
                      <a:endParaRPr lang="en-US" sz="1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マーケティング／データ分析／開発／人材育成 の4領域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P.7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年間目標</a:t>
                      </a:r>
                      <a:endParaRPr lang="en-US" sz="1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チーム目標と、それに紐づく個人目標（120%達成宣言）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P.8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目標別の取り組み</a:t>
                      </a:r>
                      <a:endParaRPr lang="en-US" sz="1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4つの個人目標の進捗と打ち手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P.9–13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アクションプラン</a:t>
                      </a:r>
                      <a:endParaRPr lang="en-US" sz="1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120%達成に向けたアクションとスケジュール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P.14–16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475488"/>
            <a:ext cx="640080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1463040" y="329184"/>
            <a:ext cx="8778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突然ですが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011680" y="1828800"/>
            <a:ext cx="8138160" cy="265176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Q.</a:t>
            </a:r>
            <a:endParaRPr lang="en-US" sz="4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000000"/>
                </a:solidFill>
              </a:rPr>
              <a:t>ドコモがやっているエンタメ事業、</a:t>
            </a:r>
            <a:endParaRPr lang="en-US" sz="4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000000"/>
                </a:solidFill>
              </a:rPr>
              <a:t>何があるでしょうか？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47091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ヒント：スタジアム、アリーナ、チケット、そして…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475488"/>
            <a:ext cx="640080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1463040" y="329184"/>
            <a:ext cx="8778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エンターテイメントプラットフォーム部について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86868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wrap="square" lIns="50800" tIns="177800" rIns="177800" bIns="508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「ここでしか見られないコンテンツ（IP）」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を創出し、リアル・デジタル一気通貫の推し活体験を提供。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ヒットIPへと育成し、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IP360°展開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へとつなげていく。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176272"/>
            <a:ext cx="3703320" cy="402336"/>
          </a:xfrm>
          <a:prstGeom prst="homePlat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コンテンツ（IP）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288536" y="2176272"/>
            <a:ext cx="3703320" cy="402336"/>
          </a:xfrm>
          <a:prstGeom prst="chevron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プラットフォーム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28432" y="2176272"/>
            <a:ext cx="3703320" cy="402336"/>
          </a:xfrm>
          <a:prstGeom prst="chevron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IP360° 展開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70048"/>
            <a:ext cx="3611880" cy="30632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807208"/>
            <a:ext cx="960120" cy="58521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音楽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755648" y="2807208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アーティスト開発・マネジメント、レーベル運営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529584"/>
            <a:ext cx="960120" cy="58521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スポーツ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755648" y="3529584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サッカー・野球・ラグビー等のプロリーグ・チームとの協業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4251960"/>
            <a:ext cx="960120" cy="58521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興行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755648" y="425196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自主・共催興行の開催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4974336"/>
            <a:ext cx="960120" cy="58521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映像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755648" y="4974336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番組企画・制作、配信権販売、制作委員会参画 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88536" y="2670048"/>
            <a:ext cx="3611880" cy="30632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25696" y="276148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chemeClr val="accent2"/>
                </a:solidFill>
              </a:rPr>
              <a:t>リアルPF（ベニュー）</a:t>
            </a:r>
            <a:endParaRPr lang="en-US" sz="1200" dirty="0"/>
          </a:p>
        </p:txBody>
      </p:sp>
      <p:pic>
        <p:nvPicPr>
          <p:cNvPr id="18" name="Image 0" descr="/tmp/claude-0/-home-user-X-check/362eecfc-c7f8-5a18-96a5-4b1ea84f8807/scratchpad/img/venue-kokuritsu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25696" y="3081528"/>
            <a:ext cx="1600200" cy="777240"/>
          </a:xfrm>
          <a:prstGeom prst="rect">
            <a:avLst/>
          </a:prstGeom>
        </p:spPr>
      </p:pic>
      <p:pic>
        <p:nvPicPr>
          <p:cNvPr id="19" name="Image 1" descr="/tmp/claude-0/-home-user-X-check/362eecfc-c7f8-5a18-96a5-4b1ea84f8807/scratchpad/img/venue-igarena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63056" y="3081528"/>
            <a:ext cx="1600200" cy="77724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425696" y="391363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MUFGスタジアム（国立競技場）／IGアリーナ／GLIONアリーナ／有明アリーナ／静岡市アリーナ（2030年開業）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4425696" y="445312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chemeClr val="accent2"/>
                </a:solidFill>
              </a:rPr>
              <a:t>デジタルPF（ファンエンゲージメント）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425696" y="4818888"/>
            <a:ext cx="1613916" cy="3657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ファンPF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149340" y="4818888"/>
            <a:ext cx="1613916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 ticket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425696" y="5276088"/>
            <a:ext cx="1613916" cy="3657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グッズ・EC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149340" y="5276088"/>
            <a:ext cx="1613916" cy="3657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アリーナアプリ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8028432" y="2670048"/>
            <a:ext cx="3611880" cy="30632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737092" y="3104388"/>
            <a:ext cx="2194560" cy="2194560"/>
          </a:xfrm>
          <a:prstGeom prst="ellipse">
            <a:avLst/>
          </a:prstGeom>
          <a:solidFill>
            <a:schemeClr val="bg2"/>
          </a:solidFill>
          <a:ln w="63500">
            <a:solidFill>
              <a:schemeClr val="accent1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9377172" y="3744468"/>
            <a:ext cx="914400" cy="9144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</a:t>
            </a:r>
            <a:endParaRPr lang="en-US" sz="2200" dirty="0"/>
          </a:p>
        </p:txBody>
      </p:sp>
      <p:sp>
        <p:nvSpPr>
          <p:cNvPr id="29" name="Text 25"/>
          <p:cNvSpPr/>
          <p:nvPr/>
        </p:nvSpPr>
        <p:spPr>
          <a:xfrm>
            <a:off x="9468612" y="2958084"/>
            <a:ext cx="731520" cy="29260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アニメ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10244506" y="3279470"/>
            <a:ext cx="731520" cy="29260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ドラマ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10565892" y="4055364"/>
            <a:ext cx="731520" cy="29260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音楽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10244506" y="4831258"/>
            <a:ext cx="731520" cy="29260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ライブ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9468612" y="5152644"/>
            <a:ext cx="731520" cy="29260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グッズ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8692718" y="4831258"/>
            <a:ext cx="731520" cy="29260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ゲーム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8234172" y="4055364"/>
            <a:ext cx="1005840" cy="29260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特別な体験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8692718" y="3279470"/>
            <a:ext cx="731520" cy="29260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コミック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48640" y="5852160"/>
            <a:ext cx="11094415" cy="41148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データマネジメント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475488"/>
            <a:ext cx="640080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1463040" y="329184"/>
            <a:ext cx="8778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 ticketとは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86868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wrap="square" lIns="50800" tIns="177800" rIns="177800" bIns="508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全国のスポーツや音楽ライブなどを取り扱うチケット販売サービス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（2025年10月より開始）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転売防止機能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によるあんしん・安全に加え、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dアカウント連携のデータ分析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・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ドコモアセットでの販促支援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を提供。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212080" cy="40690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377440"/>
            <a:ext cx="64008" cy="2743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34086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サービス画面（イメージ）</a:t>
            </a:r>
            <a:endParaRPr lang="en-US" sz="1500" dirty="0"/>
          </a:p>
        </p:txBody>
      </p:sp>
      <p:pic>
        <p:nvPicPr>
          <p:cNvPr id="7" name="Image 0" descr="/tmp/claude-0/-home-user-X-check/362eecfc-c7f8-5a18-96a5-4b1ea84f8807/scratchpad/img/dticket-u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88920"/>
            <a:ext cx="4846320" cy="21031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5074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公演選択 → 購入手続き → 座席選択 → 決済完了 までスマホで完結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43600" y="2194560"/>
            <a:ext cx="5699455" cy="40690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26480" y="2377440"/>
            <a:ext cx="64008" cy="2743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63640" y="2340864"/>
            <a:ext cx="52422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主な機能（赤字＝ドコモならではの付加価値）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697480"/>
          <a:ext cx="5333695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240280"/>
                <a:gridCol w="1858975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機能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概要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主な対応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販売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販売スタイルに柔軟に対応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先着／抽選、座席指定／券種指定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決済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各種決済方法に対応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クレジットカード、d払い、コンビニ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再販売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各種機能を実装し転売を防止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公式リセール販売、券種アップグレード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利用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電子チケット発券に対応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─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データ分析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アカウント管理によるデータ分析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ログイン連携、dアカウントログイン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マーケ／プロモ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ドコモアセットを活用した販売活動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オウンドメディア、関連企業連携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475488"/>
            <a:ext cx="640080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1463040" y="329184"/>
            <a:ext cx="8778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 ticketの取扱イベント（一部）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54864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wrap="square" lIns="50800" tIns="177800" rIns="177800" bIns="508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ボクシング・相撲から音楽フェス、花火大会まで、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国内主要ベニューの大型イベント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で販売実績を積み上げている。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4415" cy="43891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5" name="Image 0" descr="/tmp/claude-0/-home-user-X-check/362eecfc-c7f8-5a18-96a5-4b1ea84f8807/scratchpad/img/even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5309" y="2011680"/>
            <a:ext cx="9301078" cy="4114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475488"/>
            <a:ext cx="640080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1463040" y="329184"/>
            <a:ext cx="8778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私の担当業務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86868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wrap="square" lIns="50800" tIns="177800" rIns="177800" bIns="508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d ticket の成長に向け、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マーケティング・データ分析・開発・人材育成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の4領域を担当。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いずれも個人目標と1対1で紐づけ、成果を数値で追っている。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108960"/>
                <a:gridCol w="4206240"/>
                <a:gridCol w="2041855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領域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担当業務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具体的な内容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紐づく個人目標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マーケティング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公式Xの運用・ドコモオウンド施策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 ticket公式Xの運用・施策提案、ドコモオウンド広告の効果検証（GA・購入者分析など）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 公式Xフォロワー拡大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データ分析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データ分析を用いた新規案件への営業資料作成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ドコモが持つ位置情報・dアカウントデータを使った提案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 データ活用型提案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開発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AIを使ったサイト提案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サンリオや大型アーティスト等、IPを用いたサイト開発に従事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 AIサイト提案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人材育成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DX-ICT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data X camp への参加、AI活用法の社内共有 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 DX-ICT中級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475488"/>
            <a:ext cx="640080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1463040" y="329184"/>
            <a:ext cx="8778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チームでの年間目標と個人目標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86868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wrap="square" lIns="50800" tIns="177800" rIns="177800" bIns="508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チーム目標（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売上計画930M・dアカ捕捉数18万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）に直結する4つの個人目標を設定。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個人目標はすべて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120%達成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を宣言する。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4206240" cy="40690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377440"/>
            <a:ext cx="64008" cy="2743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3408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チーム目標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697480"/>
          <a:ext cx="3840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目標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売上計画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930M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dアカ捕捉数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18万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チケットビジネスの価値向上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dチケオウンド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データ活用×AIによる提案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─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新規案件の創出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新規事務所への提案10件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DX-ICT人材の育成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─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937760" y="2194560"/>
            <a:ext cx="6705295" cy="40690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120640" y="2377440"/>
            <a:ext cx="64008" cy="2743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257800" y="2340864"/>
            <a:ext cx="6248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個人目標（120%達成）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2697480"/>
          <a:ext cx="633953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468880"/>
                <a:gridCol w="868680"/>
                <a:gridCol w="1371600"/>
                <a:gridCol w="1173175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No.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個人目標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100%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120%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対応するチーム目標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公式Xのフォロワー拡大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850人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1,000人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価値向上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新規事務所へのデータ活用型提案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12件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新規案件の創出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AIを使ったサイト提案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2件以上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データ活用×AI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DX-ICT中級　dxc研修の自組織実践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自組織実践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＋AI活用ナレッジ共有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人材育成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475488"/>
            <a:ext cx="640080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1463040" y="329184"/>
            <a:ext cx="8778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目標①　公式Xのフォロワー拡大施策　1,000人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86868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wrap="square" lIns="50800" tIns="177800" rIns="177800" bIns="508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プロジェクトマネージャー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として、公演と連動した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フォロー＆リポスト企画を毎月1本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推進。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現状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80人／850人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。企画→チェック→効果測定→改善のサイクルを回し、120%の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1,000人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を目指す。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394960" cy="40690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377440"/>
            <a:ext cx="64008" cy="2743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3408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PMとしての運用サイクル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697480"/>
          <a:ext cx="50292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46304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手順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役割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STEP1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企画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公演・イベントと連動したキャンペーンを毎月1本立案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STEP2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投稿文チェック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表現・レギュレーションを確認し品質を担保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STEP3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効果測定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フォロワー増分・リポスト数を施策ごとに計測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STEP4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運用ルール改善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結果を次回企画・CP設計に反映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126480" y="2194560"/>
            <a:ext cx="5516575" cy="40690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09360" y="2377440"/>
            <a:ext cx="64008" cy="2743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46520" y="2340864"/>
            <a:ext cx="50593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実施キャンペーン</a:t>
            </a:r>
            <a:endParaRPr lang="en-US" sz="1500" dirty="0"/>
          </a:p>
        </p:txBody>
      </p:sp>
      <p:pic>
        <p:nvPicPr>
          <p:cNvPr id="11" name="Image 0" descr="/tmp/claude-0/-home-user-X-check/362eecfc-c7f8-5a18-96a5-4b1ea84f8807/scratchpad/img/cp_ow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0595" y="2697480"/>
            <a:ext cx="2149345" cy="3063240"/>
          </a:xfrm>
          <a:prstGeom prst="rect">
            <a:avLst/>
          </a:prstGeom>
        </p:spPr>
      </p:pic>
      <p:pic>
        <p:nvPicPr>
          <p:cNvPr id="12" name="Image 1" descr="/tmp/claude-0/-home-user-X-check/362eecfc-c7f8-5a18-96a5-4b1ea84f8807/scratchpad/img/cp_theda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4055" y="2697480"/>
            <a:ext cx="2304886" cy="30632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297715" y="5788152"/>
            <a:ext cx="251510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OWV 両国国技館公演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フォロー＆リポストCP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8801175" y="5788152"/>
            <a:ext cx="26706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井上尚弥選手 THE DAY展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公式グッズプレゼントCP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475488"/>
            <a:ext cx="640080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1463040" y="329184"/>
            <a:ext cx="8778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目標①　フォロワー数ロードマップ（FY26）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86868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wrap="square" lIns="50800" tIns="177800" rIns="177800" bIns="508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10〜12月は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興行連動の企画（毎月1回）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で積み上げ、1〜3月は追加施策を模索。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FY26末に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850人（100%）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、さらに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1,000人（120%）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を目指す。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455768" cy="40690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377440"/>
            <a:ext cx="64008" cy="2743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340864"/>
            <a:ext cx="4998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フォロワー数目標（累計・人）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85800" y="2651760"/>
          <a:ext cx="5181448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31520" y="5943600"/>
            <a:ext cx="509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※12月以降は計画値（仮置き）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87288" y="2194560"/>
            <a:ext cx="5455768" cy="40690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70168" y="2377440"/>
            <a:ext cx="64008" cy="2743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07328" y="2340864"/>
            <a:ext cx="4998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月別の施策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70168" y="2697480"/>
          <a:ext cx="5090008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417320"/>
                <a:gridCol w="1188720"/>
                <a:gridCol w="1097280"/>
                <a:gridCol w="746608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興行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企画（毎月1回）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賞品・原資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累計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井上尚弥展／OWVチケット販売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井上尚弥展CP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グッズ（未定）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+450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OWV公演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OWV CP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OWVグッズ×○名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+70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大型イベント（先行販売）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大型イベントCP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公演グッズ×○名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─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1〜3月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─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追加施策を模索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─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850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475488"/>
            <a:ext cx="640080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1463040" y="329184"/>
            <a:ext cx="8778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目標②　新規事務所へのデータ活用型提案　10件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86868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wrap="square" lIns="50800" tIns="177800" rIns="177800" bIns="508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ドコモの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位置情報・dアカウントデータ × SQL分析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で、主催者の集客課題に答える営業資料を作成。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提案数は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10件／10件（100%達成）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。120%達成に向け、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プラス2件（計12件）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を作成する。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577840" cy="40690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377440"/>
            <a:ext cx="64008" cy="2743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34086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提案先一覧（10件）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670048"/>
          <a:ext cx="52120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017520"/>
                <a:gridCol w="16459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No.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提案先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区分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accent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りくりゅう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スポーツ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accent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代々木イルミ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イベント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accent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ディズニー・オン・アイス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アイスショー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accent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クリエイティブマン（サマソニ）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音楽フェス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accent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ヤクルト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企業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accent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サンリオFes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IPイベント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accent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大型音楽イベント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音楽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accent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びわ湖大花火大会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花火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accent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下関花火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花火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accent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MISIA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アーティスト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309360" y="2194560"/>
            <a:ext cx="5333695" cy="21488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92240" y="2377440"/>
            <a:ext cx="64008" cy="2743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629400" y="2340864"/>
            <a:ext cx="48764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提案の型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92240" y="2697480"/>
            <a:ext cx="1564538" cy="411480"/>
          </a:xfrm>
          <a:prstGeom prst="homePlat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データ抽出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3200400"/>
            <a:ext cx="15645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SQLでdアカウント・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位置情報を抽出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193938" y="2697480"/>
            <a:ext cx="1564538" cy="411480"/>
          </a:xfrm>
          <a:prstGeom prst="homePlat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分析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193938" y="3200400"/>
            <a:ext cx="15645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来場者属性・商圏・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購買傾向を可視化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895637" y="2697480"/>
            <a:ext cx="1564538" cy="41148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営業資料化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895637" y="3200400"/>
            <a:ext cx="15645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集客課題に合わせた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提案書を作成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309360" y="4480560"/>
            <a:ext cx="5333695" cy="17830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92240" y="4663440"/>
            <a:ext cx="64008" cy="2743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629400" y="4626864"/>
            <a:ext cx="48764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達成状況</a:t>
            </a:r>
            <a:endParaRPr lang="en-US" sz="15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446520" y="4846320"/>
          <a:ext cx="5059375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475488"/>
            <a:ext cx="640080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1463040" y="329184"/>
            <a:ext cx="8778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目標③　AIを使ったサイト提案　2件以上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86868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wrap="square" lIns="50800" tIns="177800" rIns="177800" bIns="508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AIで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企画からサイトのモックまで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を短期間で作成し、商談の場でそのままプレゼン。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提案数は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2件／目標1件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で、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120%ラインを達成済み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。今後もIPを用いたサイト開発を継続する。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455768" cy="40690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377440"/>
            <a:ext cx="64008" cy="2743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340864"/>
            <a:ext cx="4998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① SANRIO SCHOOL FES 特設サイト案</a:t>
            </a:r>
            <a:endParaRPr lang="en-US" sz="1500" dirty="0"/>
          </a:p>
        </p:txBody>
      </p:sp>
      <p:pic>
        <p:nvPicPr>
          <p:cNvPr id="7" name="Image 0" descr="/tmp/claude-0/-home-user-X-check/362eecfc-c7f8-5a18-96a5-4b1ea84f8807/scratchpad/img/ai_sanri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8250" y="2697480"/>
            <a:ext cx="3436548" cy="233172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5212080"/>
          <a:ext cx="5090008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17560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提案先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サンリオ様／日本テレビ様／ドコモスタジオ&amp;ライブ様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MTGで自分の企画をプレゼン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187288" y="2194560"/>
            <a:ext cx="5455768" cy="40690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370168" y="2377440"/>
            <a:ext cx="64008" cy="2743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507328" y="2340864"/>
            <a:ext cx="4998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② d ticket サイト UI改善案</a:t>
            </a:r>
            <a:endParaRPr lang="en-US" sz="1500" dirty="0"/>
          </a:p>
        </p:txBody>
      </p:sp>
      <p:pic>
        <p:nvPicPr>
          <p:cNvPr id="12" name="Image 1" descr="/tmp/claude-0/-home-user-X-check/362eecfc-c7f8-5a18-96a5-4b1ea84f8807/scratchpad/img/ai_dticke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761" y="2697480"/>
            <a:ext cx="2760821" cy="2331720"/>
          </a:xfrm>
          <a:prstGeom prst="rect">
            <a:avLst/>
          </a:prstGeom>
        </p:spPr>
      </p:pic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70168" y="5212080"/>
          <a:ext cx="5090008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17560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対象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 ticket サイト（イベント検索〜購入導線）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UI改善案を作成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475488"/>
            <a:ext cx="640080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1463040" y="329184"/>
            <a:ext cx="8778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目標④　DX-ICT人材育成（中級）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86868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wrap="square" lIns="50800" tIns="177800" rIns="177800" bIns="508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data X camp の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SQL研修で大型抽出が可能に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。ディズニープラス会員の抽出、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55万ID以上の分析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を営業資料へ反映。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進捗は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50%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。120%達成に向け、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自組織実践の完了＋AI活用ナレッジ共有1件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を行う。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6675120" cy="40690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377440"/>
            <a:ext cx="64008" cy="2743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340864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研修成果の実践事例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697480"/>
          <a:ext cx="6309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004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区分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活用先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大型抽出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ディズニープラス会員の抽出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営業提案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大規模分析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55万ID以上を分析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ヤクルト向け営業資料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イベント分析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びわ湖大花火大会の提案データ分析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営業提案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ナレッジ共有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AI活用法の社内共有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自組織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406640" y="2194560"/>
            <a:ext cx="4236415" cy="40690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589520" y="2377440"/>
            <a:ext cx="64008" cy="2743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26680" y="2340864"/>
            <a:ext cx="3779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目標進捗（%）</a:t>
            </a:r>
            <a:endParaRPr lang="en-US" sz="15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543800" y="2651760"/>
          <a:ext cx="3962095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7589520" y="5577840"/>
            <a:ext cx="3870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100%：dxc研修の自組織実践／120%：＋AI活用ナレッジ共有1件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475488"/>
            <a:ext cx="640080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1463040" y="329184"/>
            <a:ext cx="8778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アクションプラン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54864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wrap="square" lIns="50800" tIns="177800" rIns="177800" bIns="508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目標②③は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100%に到達済み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。残り半期は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①フォロワー拡大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と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④自組織実践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に注力し、全目標で120%達成を目指す。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57600" cy="43891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57400"/>
            <a:ext cx="64008" cy="2743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0208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目標別 達成率（%）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2331720"/>
          <a:ext cx="34747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4389120" y="1874520"/>
            <a:ext cx="7253935" cy="43891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0" y="2057400"/>
            <a:ext cx="64008" cy="2743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09160" y="2020824"/>
            <a:ext cx="67967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120%達成に向けたアクション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2377440"/>
          <a:ext cx="688817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103120"/>
                <a:gridCol w="1097280"/>
                <a:gridCol w="3230575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No.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目標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現状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アクション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【マーケ】公式Xフォロワー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80人／850人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リポスト企画3件の遂行、施策後の効果測定、投稿文チェック、運用ルールの改善。1,000人に向けCP設計を更新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【データ分析】データ活用型提案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10件／10件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SQLを用いた分析手法の磨き上げ。120%達成に向けプラス2件作成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【開発】AIサイト提案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2件／1件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120%達成済み。サンリオや大型アーティスト等、IPを用いたサイト開発を継続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【人材育成】DX-ICT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50%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data X camp での自組織実践を完了、AI活用のナレッジ共有1件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475488"/>
            <a:ext cx="640080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1463040" y="329184"/>
            <a:ext cx="8778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スケジュール感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54864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wrap="square" lIns="50800" tIns="177800" rIns="177800" bIns="508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3Qは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興行連動の企画・提案フォロー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、4Qは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追加施策・＋2件の提案・ナレッジ共有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で120%達成まで走り切る。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4415" cy="43891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0" y="2011680"/>
            <a:ext cx="4139032" cy="27432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3Q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284568" y="2011680"/>
            <a:ext cx="4175608" cy="27432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4Q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2331720"/>
            <a:ext cx="1355293" cy="2743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10月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00829" y="2331720"/>
            <a:ext cx="1355293" cy="2743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11月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2541" y="2670048"/>
            <a:ext cx="0" cy="352044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892698" y="2331720"/>
            <a:ext cx="1355293" cy="2743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12月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74410" y="2670048"/>
            <a:ext cx="0" cy="352044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284568" y="2331720"/>
            <a:ext cx="1355293" cy="2743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66280" y="2670048"/>
            <a:ext cx="0" cy="352044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8676437" y="2331720"/>
            <a:ext cx="1355293" cy="2743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2月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58149" y="2670048"/>
            <a:ext cx="0" cy="352044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10068306" y="2331720"/>
            <a:ext cx="1355293" cy="2743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050018" y="2670048"/>
            <a:ext cx="0" cy="352044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31520" y="2743200"/>
            <a:ext cx="2286000" cy="93268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① 公式Xフォロワー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36392" y="2798064"/>
            <a:ext cx="1318717" cy="320040"/>
          </a:xfrm>
          <a:prstGeom prst="homePlat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井上尚弥展CP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28261" y="2798064"/>
            <a:ext cx="1318717" cy="320040"/>
          </a:xfrm>
          <a:prstGeom prst="homePlat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OWV CP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20130" y="2798064"/>
            <a:ext cx="1318717" cy="320040"/>
          </a:xfrm>
          <a:prstGeom prst="homePlat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大型イベントCP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2000" y="2798064"/>
            <a:ext cx="4102456" cy="320040"/>
          </a:xfrm>
          <a:prstGeom prst="homePlat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追加施策の企画・実施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36392" y="3300984"/>
            <a:ext cx="8278063" cy="320040"/>
          </a:xfrm>
          <a:prstGeom prst="homePlate">
            <a:avLst/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効果測定・投稿文チェック・運用ルール改善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3822192"/>
            <a:ext cx="2286000" cy="93268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② データ活用型提案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136392" y="3877056"/>
            <a:ext cx="4102456" cy="320040"/>
          </a:xfrm>
          <a:prstGeom prst="homePlate">
            <a:avLst/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提案済10件のフォロー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2000" y="3877056"/>
            <a:ext cx="4102456" cy="320040"/>
          </a:xfrm>
          <a:prstGeom prst="homePlat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＋2件 作成（12件へ）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136392" y="4379976"/>
            <a:ext cx="8278063" cy="320040"/>
          </a:xfrm>
          <a:prstGeom prst="homePlate">
            <a:avLst/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SQL分析手法の磨き上げ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4901184"/>
            <a:ext cx="2286000" cy="42976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③ AIサイト提案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136392" y="4956048"/>
            <a:ext cx="8278063" cy="320040"/>
          </a:xfrm>
          <a:prstGeom prst="homePlate">
            <a:avLst/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IPサイト開発の継続（サンリオ・大型アーティスト等）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" y="5477256"/>
            <a:ext cx="2286000" cy="42976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④ DX-ICT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136392" y="5532120"/>
            <a:ext cx="5494325" cy="320040"/>
          </a:xfrm>
          <a:prstGeom prst="homePlate">
            <a:avLst/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data X camp 自組織実践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703869" y="5532120"/>
            <a:ext cx="2710586" cy="320040"/>
          </a:xfrm>
          <a:prstGeom prst="homePlat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AIナレッジ共有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108960" y="5897880"/>
            <a:ext cx="8351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■赤：マイルストーン（企画・成果物）　□白：継続タスク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475488"/>
            <a:ext cx="640080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1463040" y="329184"/>
            <a:ext cx="8778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まとめ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86868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wrap="square" lIns="50800" tIns="177800" rIns="177800" bIns="508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集客 × データ × AI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で d ticket の成長を加速させるため、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4つの個人目標すべてで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120%達成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を宣言します。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9441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480560"/>
                <a:gridCol w="1554480"/>
                <a:gridCol w="1737360"/>
                <a:gridCol w="2590495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No.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個人目標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現状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100%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120%（宣言）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公式Xのフォロワー拡大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80人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850人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1,000人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新規事務所へのデータ活用型提案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10件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10件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12件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AIを使ったサイト提案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2件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1件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2件以上（達成済）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DX-ICT中級　dxc研修の自組織実践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50%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自組織実践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＋AI活用ナレッジ共有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475488"/>
            <a:ext cx="640080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P PF Docomo Red">
  <a:themeElements>
    <a:clrScheme name="EP PF Docomo Red">
      <a:dk1>
        <a:srgbClr val="222222"/>
      </a:dk1>
      <a:lt1>
        <a:srgbClr val="FFFFFF"/>
      </a:lt1>
      <a:dk2>
        <a:srgbClr val="444444"/>
      </a:dk2>
      <a:lt2>
        <a:srgbClr val="FAFAFA"/>
      </a:lt2>
      <a:accent1>
        <a:srgbClr val="CC0033"/>
      </a:accent1>
      <a:accent2>
        <a:srgbClr val="A31D2B"/>
      </a:accent2>
      <a:accent3>
        <a:srgbClr val="777777"/>
      </a:accent3>
      <a:accent4>
        <a:srgbClr val="D4D4D4"/>
      </a:accent4>
      <a:accent5>
        <a:srgbClr val="B5B5B5"/>
      </a:accent5>
      <a:accent6>
        <a:srgbClr val="F2F2F2"/>
      </a:accent6>
      <a:hlink>
        <a:srgbClr val="CC0033"/>
      </a:hlink>
      <a:folHlink>
        <a:srgbClr val="A31D2B"/>
      </a:folHlink>
    </a:clrScheme>
    <a:fontScheme name="EP PF Docomo Red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目標宣言資料</dc:title>
  <dc:subject>PptxGenJS Presentation</dc:subject>
  <dc:creator>EP部 PF推進 室谷佳汰</dc:creator>
  <cp:lastModifiedBy>EP部 PF推進 室谷佳汰</cp:lastModifiedBy>
  <cp:revision>1</cp:revision>
  <dcterms:created xsi:type="dcterms:W3CDTF">2026-10-07T12:44:45Z</dcterms:created>
  <dcterms:modified xsi:type="dcterms:W3CDTF">2026-10-07T12:44:45Z</dcterms:modified>
</cp:coreProperties>
</file>