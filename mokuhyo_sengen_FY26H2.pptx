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9179b198-c692-ab9c-8137-e39c7a8843f3}">
          <p14:sldIdLst>
            <p14:sldId id="256"/>
            <p14:sldId id="257"/>
          </p14:sldIdLst>
        </p14:section>
        <p14:section name="組織の目的" id="{8819fa5c-2c46-c480-292f-9a2975d83ed4}">
          <p14:sldIdLst>
            <p14:sldId id="258"/>
            <p14:sldId id="259"/>
          </p14:sldIdLst>
        </p14:section>
        <p14:section name="自分の目的" id="{9ed676f8-c7da-6ffa-8a61-3464dbd13cf4}">
          <p14:sldIdLst>
            <p14:sldId id="260"/>
            <p14:sldId id="261"/>
            <p14:sldId id="262"/>
          </p14:sldIdLst>
        </p14:section>
        <p14:section name="目的の差分と個人目標" id="{7ca8935f-56d5-9c90-d29b-cff3be044855}">
          <p14:sldIdLst>
            <p14:sldId id="263"/>
            <p14:sldId id="264"/>
          </p14:sldIdLst>
        </p14:section>
        <p14:section name="目標別の取り組み" id="{0cf4a9d5-904a-0e02-565f-4b716a64427e}">
          <p14:sldIdLst>
            <p14:sldId id="265"/>
            <p14:sldId id="266"/>
            <p14:sldId id="267"/>
            <p14:sldId id="268"/>
          </p14:sldIdLst>
        </p14:section>
        <p14:section name="アクションプラン" id="{61d8cd3f-f5f1-645d-f51f-d4d269e8e9d0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フォロワー目標（累計）</c:v>
                </c:pt>
              </c:strCache>
            </c:strRef>
          </c:tx>
          <c:spPr>
            <a:solidFill>
              <a:srgbClr val="CC0033"/>
            </a:solidFill>
            <a:ln w="31750" cap="flat">
              <a:solidFill>
                <a:srgbClr val="CC00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C0033"/>
              </a:solidFill>
              <a:ln w="9525" cap="flat">
                <a:solidFill>
                  <a:srgbClr val="CC00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10月</c:v>
                  </c:pt>
                  <c:pt idx="1">
                    <c:v>11月</c:v>
                  </c:pt>
                  <c:pt idx="2">
                    <c:v>12月</c:v>
                  </c:pt>
                  <c:pt idx="3">
                    <c:v>1月</c:v>
                  </c:pt>
                  <c:pt idx="4">
                    <c:v>2月</c:v>
                  </c:pt>
                  <c:pt idx="5">
                    <c:v>3月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430</c:v>
                </c:pt>
                <c:pt idx="2">
                  <c:v>500</c:v>
                </c:pt>
                <c:pt idx="3">
                  <c:v>800</c:v>
                </c:pt>
                <c:pt idx="4">
                  <c:v>825</c:v>
                </c:pt>
                <c:pt idx="5">
                  <c:v>850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222222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22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777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932688"/>
            <a:ext cx="11551615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329184"/>
            <a:ext cx="960120" cy="621792"/>
          </a:xfrm>
          <a:prstGeom prst="parallelogram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469880" y="201168"/>
            <a:ext cx="1371600" cy="21945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秘密度C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241280" y="4754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Page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©2026 NTT DOCOMO, INC. All Rights Reserved.</a:t>
            </a:r>
            <a:endParaRPr lang="en-US" sz="800" dirty="0"/>
          </a:p>
        </p:txBody>
      </p:sp>
      <p:sp>
        <p:nvSpPr>
          <p:cNvPr id="7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Confidential ©2026 NTT DOCOMO, INC. All Rights Reserved.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©2026 NTT DOCOMO, INC. All Rights Reserved.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84048"/>
            <a:ext cx="5760720" cy="566928"/>
          </a:xfrm>
          <a:prstGeom prst="parallelogram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3840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chemeClr val="bg1"/>
                </a:solidFill>
              </a:rPr>
              <a:t>EP部　PF推進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778240" y="320040"/>
            <a:ext cx="3063240" cy="868680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txBody>
          <a:bodyPr wrap="square" lIns="50800" tIns="101600" rIns="101600" bIns="50800" rtlCol="0" anchor="ctr"/>
          <a:lstStyle/>
          <a:p>
            <a:pPr indent="0" marL="0">
              <a:buNone/>
            </a:pPr>
            <a:r>
              <a:rPr lang="en-US" sz="1300" b="1" u="sng" dirty="0">
                <a:solidFill>
                  <a:schemeClr val="tx1"/>
                </a:solidFill>
              </a:rPr>
              <a:t>秘密度 C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作成者：EP部PF推進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作成日：2026/10/8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廃棄日：2027/3/末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8680" y="2240280"/>
            <a:ext cx="10424160" cy="178308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42316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目標宣言資料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3756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FY26 下期　組織の目的と自分の目的をつなぐ4つの目標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37560" y="44348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EP部 PF推進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室谷 佳汰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アジェンダ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97280" y="1417320"/>
            <a:ext cx="1051560" cy="621792"/>
          </a:xfrm>
          <a:prstGeom prst="parallelogram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417320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371600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組織の目的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035040" y="1371600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 ticketチームの目的と年間目標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97280" y="2221992"/>
            <a:ext cx="996696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0" y="2350008"/>
            <a:ext cx="1051560" cy="621792"/>
          </a:xfrm>
          <a:prstGeom prst="parallelogram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2350008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304288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自分の目的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304288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人生の目標から逆算した、3年後の目的とロードマップ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97280" y="3154680"/>
            <a:ext cx="996696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" y="3282696"/>
            <a:ext cx="1051560" cy="621792"/>
          </a:xfrm>
          <a:prstGeom prst="parallelogram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282696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3236976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目的の差分と個人目標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236976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組織と自分の目的の重なり・差分と、それを埋める4つの個人目標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97280" y="4087368"/>
            <a:ext cx="996696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7280" y="4215384"/>
            <a:ext cx="1051560" cy="621792"/>
          </a:xfrm>
          <a:prstGeom prst="parallelogram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7280" y="4215384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2468880" y="4169664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目標別の取り組み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416966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①〜④の目標ごとの取り組みと工夫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97280" y="5020056"/>
            <a:ext cx="996696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97280" y="5148072"/>
            <a:ext cx="1051560" cy="621792"/>
          </a:xfrm>
          <a:prstGeom prst="parallelogram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97280" y="5148072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2468880" y="5102352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アクションプラン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510235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120%達成に向けたスケジュールと宣言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2103120" cy="1325880"/>
          </a:xfrm>
          <a:prstGeom prst="parallelogram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2926080" y="1097280"/>
            <a:ext cx="8686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組織の目的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94415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このセクションで話すこと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529584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474720"/>
            <a:ext cx="5852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 ticketとはどんなサービスか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096512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041648"/>
            <a:ext cx="5852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 ticketチームの目的と、年間のチーム目標</a:t>
            </a:r>
            <a:endParaRPr lang="en-US" sz="1800" dirty="0"/>
          </a:p>
        </p:txBody>
      </p:sp>
      <p:pic>
        <p:nvPicPr>
          <p:cNvPr id="11" name="Image 0" descr="/tmp/claude-0/-home-user-X-check/362eecfc-c7f8-5a18-96a5-4b1ea84f8807/scratchpad/img/ev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3017520"/>
            <a:ext cx="4325112" cy="1913431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5897880"/>
            <a:ext cx="2145731" cy="384048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1. 組織の目的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85811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2. 自分の目的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2982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3. 目的の差分と個人目標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60153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4. 目標別の取り組み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497324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5. アクションプラン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 ticketチームの目的と年間目標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d ticketは全国のスポーツ・音楽ライブ等を扱うチケット販売サービス（2025年10月開始）。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チームの目的は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「自社オウンド媒体の強化により、取扱興行のチケット販売を最大化すること」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760720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40864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 ticketとは</a:t>
            </a:r>
            <a:endParaRPr lang="en-US" sz="1500" dirty="0"/>
          </a:p>
        </p:txBody>
      </p:sp>
      <p:pic>
        <p:nvPicPr>
          <p:cNvPr id="7" name="Image 0" descr="/tmp/claude-0/-home-user-X-check/362eecfc-c7f8-5a18-96a5-4b1ea84f8807/scratchpad/img/dticket-u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697480"/>
            <a:ext cx="5394960" cy="23408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" y="5166360"/>
            <a:ext cx="1737360" cy="457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95528" y="5221224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921" y="5304617"/>
            <a:ext cx="180685" cy="18068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88720" y="51663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販売：先着／抽選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2560320" y="5166360"/>
            <a:ext cx="1737360" cy="457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624328" y="5221224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721" y="5304617"/>
            <a:ext cx="180685" cy="18068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17520" y="51663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決済：d払い等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389120" y="5166360"/>
            <a:ext cx="1737360" cy="457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453128" y="5221224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521" y="5304617"/>
            <a:ext cx="180685" cy="18068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46320" y="51663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公式リセール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731520" y="5696712"/>
            <a:ext cx="1737360" cy="457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95528" y="5751576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921" y="5834969"/>
            <a:ext cx="180685" cy="18068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88720" y="56967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電子チケット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2560320" y="5696712"/>
            <a:ext cx="1737360" cy="457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24328" y="575157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7721" y="5834969"/>
            <a:ext cx="180685" cy="180685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17520" y="56967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dアカ連携分析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4389120" y="5696712"/>
            <a:ext cx="1737360" cy="457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53128" y="575157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6521" y="5834969"/>
            <a:ext cx="180685" cy="180685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846320" y="56967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ドコモアセット販促</a:t>
            </a:r>
            <a:endParaRPr lang="en-US" sz="1050" dirty="0"/>
          </a:p>
        </p:txBody>
      </p:sp>
      <p:sp>
        <p:nvSpPr>
          <p:cNvPr id="32" name="Shape 23"/>
          <p:cNvSpPr/>
          <p:nvPr/>
        </p:nvSpPr>
        <p:spPr>
          <a:xfrm>
            <a:off x="6492240" y="2194560"/>
            <a:ext cx="5150815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67512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812280" y="2340864"/>
            <a:ext cx="4693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チームの目的と年間目標</a:t>
            </a:r>
            <a:endParaRPr lang="en-US" sz="1500" dirty="0"/>
          </a:p>
        </p:txBody>
      </p:sp>
      <p:sp>
        <p:nvSpPr>
          <p:cNvPr id="35" name="Text 26"/>
          <p:cNvSpPr/>
          <p:nvPr/>
        </p:nvSpPr>
        <p:spPr>
          <a:xfrm>
            <a:off x="6675120" y="2697480"/>
            <a:ext cx="4785055" cy="8686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目的</a:t>
            </a:r>
            <a:endParaRPr lang="en-US" sz="11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自社オウンド媒体の強化 → 取扱興行のチケット販売を最大化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8884768" y="3630168"/>
            <a:ext cx="36576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6675120" y="3977640"/>
            <a:ext cx="2323948" cy="822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6675120" y="4023360"/>
            <a:ext cx="23239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売上計画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6675120" y="4279392"/>
            <a:ext cx="23239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930M</a:t>
            </a:r>
            <a:endParaRPr lang="en-US" sz="2400" dirty="0"/>
          </a:p>
        </p:txBody>
      </p:sp>
      <p:sp>
        <p:nvSpPr>
          <p:cNvPr id="40" name="Shape 31"/>
          <p:cNvSpPr/>
          <p:nvPr/>
        </p:nvSpPr>
        <p:spPr>
          <a:xfrm>
            <a:off x="9136228" y="3977640"/>
            <a:ext cx="2323948" cy="822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9136228" y="4023360"/>
            <a:ext cx="23239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dアカ捕捉数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9136228" y="4279392"/>
            <a:ext cx="23239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18万</a:t>
            </a:r>
            <a:endParaRPr lang="en-US" sz="2400" dirty="0"/>
          </a:p>
        </p:txBody>
      </p:sp>
      <p:sp>
        <p:nvSpPr>
          <p:cNvPr id="43" name="Text 34"/>
          <p:cNvSpPr txBox="1"/>
          <p:nvPr/>
        </p:nvSpPr>
        <p:spPr>
          <a:xfrm>
            <a:off x="6675120" y="48920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重点テーマ</a:t>
            </a:r>
            <a:endParaRPr lang="en-US" sz="1100" dirty="0"/>
          </a:p>
        </p:txBody>
      </p:sp>
      <p:sp>
        <p:nvSpPr>
          <p:cNvPr id="44" name="Text 35"/>
          <p:cNvSpPr/>
          <p:nvPr/>
        </p:nvSpPr>
        <p:spPr>
          <a:xfrm>
            <a:off x="6675120" y="5184648"/>
            <a:ext cx="2323948" cy="42976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チケットビジネスの価値向上</a:t>
            </a:r>
            <a:endParaRPr lang="en-US" sz="1100" dirty="0"/>
          </a:p>
        </p:txBody>
      </p:sp>
      <p:sp>
        <p:nvSpPr>
          <p:cNvPr id="45" name="Text 36"/>
          <p:cNvSpPr/>
          <p:nvPr/>
        </p:nvSpPr>
        <p:spPr>
          <a:xfrm>
            <a:off x="9136228" y="5184648"/>
            <a:ext cx="2323948" cy="42976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新規案件の創出</a:t>
            </a:r>
            <a:endParaRPr lang="en-US" sz="1100" dirty="0"/>
          </a:p>
        </p:txBody>
      </p:sp>
      <p:sp>
        <p:nvSpPr>
          <p:cNvPr id="46" name="Text 37"/>
          <p:cNvSpPr/>
          <p:nvPr/>
        </p:nvSpPr>
        <p:spPr>
          <a:xfrm>
            <a:off x="6675120" y="5687568"/>
            <a:ext cx="2323948" cy="42976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データ活用×AIによる提案</a:t>
            </a:r>
            <a:endParaRPr lang="en-US" sz="1100" dirty="0"/>
          </a:p>
        </p:txBody>
      </p:sp>
      <p:sp>
        <p:nvSpPr>
          <p:cNvPr id="47" name="Text 38"/>
          <p:cNvSpPr/>
          <p:nvPr/>
        </p:nvSpPr>
        <p:spPr>
          <a:xfrm>
            <a:off x="9136228" y="5687568"/>
            <a:ext cx="2323948" cy="42976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DX-ICT人材の育成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2103120" cy="1325880"/>
          </a:xfrm>
          <a:prstGeom prst="parallelogram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2926080" y="1097280"/>
            <a:ext cx="8686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自分の目的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94415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971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このセクションで話すこと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529584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47472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人生の目標から逆算した、3年後の目的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096512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04164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Will・Can・Must の重なり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663440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60857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3年間のロードマップと、1年目の計画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1. 組織の目的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85811" y="5897880"/>
            <a:ext cx="2145731" cy="384048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2. 自分の目的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2982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3. 目的の差分と個人目標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260153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4. 目標別の取り組み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97324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5. アクションプラン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人生の目標から逆算した、3年後の目的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人生の目標から逆算し、3年後の目的を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「d ticketのデータ資産を活かして、自分にしかできない新しいソリューションを生み出す」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と設定。Will・Can・Mustが重なるところに置いている。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6858000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40864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目標の階層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97480"/>
            <a:ext cx="457200" cy="242316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9184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逆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算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417320" y="2697480"/>
            <a:ext cx="580644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08760" y="2852928"/>
            <a:ext cx="1143000" cy="420624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人生の目標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269748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エンタメ × ITの力で、世界中の人々の人生を変えるサービスを自ら生み出す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417320" y="3538728"/>
            <a:ext cx="580644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3694176"/>
            <a:ext cx="1143000" cy="420624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5-10年後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3538728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エンタメ領域の新規事業の事業責任者・PMとして、案件をリードできる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417320" y="4379976"/>
            <a:ext cx="5806440" cy="73152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08760" y="4535424"/>
            <a:ext cx="1143000" cy="420624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3年後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788920" y="4379976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 ticketのデータ資産を活かして、自分にしかできない新しいソリューションを生み出す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257800"/>
            <a:ext cx="6446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2"/>
                </a:solidFill>
              </a:rPr>
              <a:t>原体験　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エンタメ（音楽・ゲーム・お笑い）に人生を救われた経験から、今度は「誰かの人生を変える側」に回りたい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accent2"/>
                </a:solidFill>
              </a:rPr>
              <a:t>根拠　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音楽活動（バンド／ライブ／YouTube）、修士でのゲームAI開発、漫才ライブ出演、DMM WEBCAMP長期インターン（PM）、修士研究の自主推進（国際学会受賞）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89520" y="2194560"/>
            <a:ext cx="4053535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09560" y="2340864"/>
            <a:ext cx="35963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Will・Can・Must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473288" y="2651760"/>
            <a:ext cx="1371600" cy="1371600"/>
          </a:xfrm>
          <a:prstGeom prst="ellipse">
            <a:avLst/>
          </a:prstGeom>
          <a:solidFill>
            <a:schemeClr val="accent1">
              <a:alpha val="25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58988" y="296722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387688" y="2651760"/>
            <a:ext cx="1371600" cy="1371600"/>
          </a:xfrm>
          <a:prstGeom prst="ellipse">
            <a:avLst/>
          </a:prstGeom>
          <a:solidFill>
            <a:schemeClr val="accent2">
              <a:alpha val="25000"/>
            </a:schemeClr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76308" y="296722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930488" y="3364992"/>
            <a:ext cx="1371600" cy="1371600"/>
          </a:xfrm>
          <a:prstGeom prst="ellipse">
            <a:avLst/>
          </a:prstGeom>
          <a:solidFill>
            <a:schemeClr val="accent3">
              <a:alpha val="2500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067648" y="421538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159088" y="350215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3年後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の目的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4846320"/>
            <a:ext cx="368777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Will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エンタメ新規事業のPMとして自分のアイデアを形にする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chemeClr val="accent2"/>
                </a:solidFill>
              </a:rPr>
              <a:t>Can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心理学、AI開発、Webサイト開発、データ分析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chemeClr val="accent3"/>
                </a:solidFill>
              </a:rPr>
              <a:t>Must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マーケティング知識、データ分析・開発知識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3年間のロードマップと1年目の計画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3年かけて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業界理解 → 自分にしかできないプロモーション → d ticket全体を巻き込む施策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へとステップアップ。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やりたいことは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「データ × ライブイベント」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。1年目は営業企画として自分起点のプロモーションを立ち上げる。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1094415" cy="2194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40864"/>
            <a:ext cx="10637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3年間のロードマップ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3484778" cy="347472"/>
          </a:xfrm>
          <a:prstGeom prst="homePlat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1年目（今ここ）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90672"/>
            <a:ext cx="3393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業界を理解し、プロモーションを立ち上げる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419856"/>
            <a:ext cx="3393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チケット業界の構造・課題の理解を通じて、お客様視点での施策を生み出す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90448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スキル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業界知識／営業基礎力／ステークホルダーマネジメント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53458" y="2670048"/>
            <a:ext cx="3484778" cy="347472"/>
          </a:xfrm>
          <a:prstGeom prst="homePlat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2年目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399178" y="3090672"/>
            <a:ext cx="3393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自分にしかできないプロモーションを企画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399178" y="3419856"/>
            <a:ext cx="3393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AI・データ分析やプロモーション経験を活かし、お客様の課題を自ら解決できる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399178" y="390448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スキル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データ分析／マーケティング知識／提案書作成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5397" y="2670048"/>
            <a:ext cx="3484778" cy="347472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3年目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21117" y="3090672"/>
            <a:ext cx="3393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 ticket全体を巻き込む施策を生み出す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021117" y="3419856"/>
            <a:ext cx="3393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新しいビジネスモデル、キャンペーンを生み出す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021117" y="3904488"/>
            <a:ext cx="3393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スキル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提案営業力／プロジェクト推進力・マネジメント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94415" cy="17373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70916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672584"/>
            <a:ext cx="10637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1年目の計画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31520" y="4983480"/>
            <a:ext cx="2373554" cy="117043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" y="5029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4-6月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" y="5340096"/>
            <a:ext cx="2154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業界・サービスを理解し、傾向や課題を言語化できる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5870448"/>
            <a:ext cx="2154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→ 業界知識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150794" y="5413248"/>
            <a:ext cx="320040" cy="31089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16554" y="4983480"/>
            <a:ext cx="2373554" cy="117043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26282" y="5029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7-9月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626282" y="5340096"/>
            <a:ext cx="2154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8・9月のプロモ効果検証に伴走し理解する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626282" y="5870448"/>
            <a:ext cx="2154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→ 営業基礎力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35828" y="5413248"/>
            <a:ext cx="320040" cy="31089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01588" y="4983480"/>
            <a:ext cx="2373554" cy="117043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1316" y="5029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10-12月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989341" y="5047488"/>
            <a:ext cx="566928" cy="25603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現在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411316" y="5340096"/>
            <a:ext cx="2154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データ×施策の仮説を立てて企画提案を行う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6411316" y="5870448"/>
            <a:ext cx="2154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→ 提案・推進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720861" y="5413248"/>
            <a:ext cx="320040" cy="31089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086621" y="4983480"/>
            <a:ext cx="2373554" cy="117043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96349" y="5029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1-3月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9196349" y="5340096"/>
            <a:ext cx="2154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自分起点のプロモを企画する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196349" y="5870448"/>
            <a:ext cx="2154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→ 1年目の目標達成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2103120" cy="1325880"/>
          </a:xfrm>
          <a:prstGeom prst="parallelogram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2926080" y="1097280"/>
            <a:ext cx="8686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目的の差分と個人目標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94415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971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このセクションで話すこと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529584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47472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組織の目的と自分の目的は、どこが重なり、どこが違うか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096512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04164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その差分を埋めるための4つの個人目標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1. 組織の目的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85811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2. 自分の目的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2982" y="5897880"/>
            <a:ext cx="2145731" cy="384048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3. 目的の差分と個人目標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260153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4. 目標別の取り組み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497324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5. アクションプラン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組織の目的と自分の目的の差分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2つの目的は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「d ticketのオウンド媒体・データを使って成果を出す」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点で重なる。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差分は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既存興行の販売最大化か、新しいソリューションの創出か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。この差分を4つの個人目標で埋める。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49040" cy="1874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94560"/>
            <a:ext cx="3749040" cy="347472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組織（d ticketチーム）の目的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517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自社オウンド媒体の強化により、取扱興行のチケット販売を最大化する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5661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視点：今ある興行を、確実に売り切る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894015" y="2194560"/>
            <a:ext cx="3749040" cy="1874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94015" y="2194560"/>
            <a:ext cx="3749040" cy="34747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自分の目的（3年後）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076895" y="26517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 ticketのデータ資産を活かして、自分にしかできない新しいソリューションを生み出す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076895" y="35661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視点：新しい売り方・価値をつくる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25112" y="2953512"/>
            <a:ext cx="274320" cy="31089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92263" y="2953512"/>
            <a:ext cx="274320" cy="31089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2194560"/>
            <a:ext cx="2956255" cy="1874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2286000"/>
            <a:ext cx="26819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重なる部分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オウンド媒体・データ資産を活用して成果を出す</a:t>
            </a:r>
            <a:endParaRPr lang="en-US" sz="1400" dirty="0"/>
          </a:p>
          <a:p>
            <a:pPr indent="0" marL="0">
              <a:buNone/>
            </a:pPr>
            <a:r>
              <a:rPr lang="en-US" sz="5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差分（自分に足りないもの）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マーケティング知識・業界理解、データから仮説を立てる力（Must）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11094415" cy="20574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38912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352544"/>
            <a:ext cx="10637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差分を埋める4つの個人目標（組織への貢献 × 自分の成長）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4663440"/>
            <a:ext cx="2579294" cy="14813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663440"/>
            <a:ext cx="2579294" cy="347472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① 公式Xのフォロワー拡大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047488"/>
            <a:ext cx="23964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850人 → 120%：1,000人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340096"/>
            <a:ext cx="23964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</a:rPr>
              <a:t>組織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オウンド媒体（X）を強化し販売に貢献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自分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マーケティング知識・PM経験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47974" y="4663440"/>
            <a:ext cx="2579294" cy="14813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47974" y="4663440"/>
            <a:ext cx="2579294" cy="347472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② データ活用型提案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539414" y="5047488"/>
            <a:ext cx="23964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10件 → 120%：12件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3539414" y="5340096"/>
            <a:ext cx="23964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</a:rPr>
              <a:t>組織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データで主催者の集客課題を解き、取扱を拡大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自分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データ分析・仮説を立てる力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64428" y="4663440"/>
            <a:ext cx="2579294" cy="14813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64428" y="4663440"/>
            <a:ext cx="2579294" cy="347472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③ AIを使ったサイト提案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255868" y="5047488"/>
            <a:ext cx="23964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1件 → 120%：2件以上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255868" y="5340096"/>
            <a:ext cx="23964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</a:rPr>
              <a:t>組織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IPを用いた新たな販売導線をつくる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自分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Can（AI・Web開発）を新ソリューションへ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880881" y="4663440"/>
            <a:ext cx="2579294" cy="14813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80881" y="4663440"/>
            <a:ext cx="2579294" cy="347472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④ DX-ICT中級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972321" y="5047488"/>
            <a:ext cx="23964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自組織実践 → ＋ナレッジ共有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72321" y="5340096"/>
            <a:ext cx="23964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</a:rPr>
              <a:t>組織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チームのデータ・AI活用力を底上げ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自分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データ分析・開発知識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2103120" cy="1325880"/>
          </a:xfrm>
          <a:prstGeom prst="parallelogram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2926080" y="1097280"/>
            <a:ext cx="8686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目標別の取り組み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94415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971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このセクションで話すこと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529584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47472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① 公式Xのフォロワー拡大：月ごとの施策とフォロワー推移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096512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04164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② データ活用型提案：分析の流れと、見えてきた課題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663440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60857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③ AIサイト提案・④ DX-ICT：実際の成果物と研修の実践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1. 組織の目的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85811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2. 自分の目的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2982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3. 目的の差分と個人目標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260153" y="5897880"/>
            <a:ext cx="2145731" cy="384048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4. 目標別の取り組み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97324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5. アクションプラン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① 公式Xのフォロワー拡大　850人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PM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として公演連動のフォロー＆リポスト企画をほぼ毎月推進し、120%の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1,000人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を目指す。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組織：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オウンド媒体の集客力を強化　／　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自分：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マーケティング知識とPMとしての推進力を獲得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394960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フォロワー推移目標（累計・人）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2606040"/>
          <a:ext cx="3977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8" name="Image 0" descr="/tmp/claude-0/-home-user-X-check/362eecfc-c7f8-5a18-96a5-4b1ea84f8807/scratchpad/img/cp_theda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697480"/>
            <a:ext cx="1204045" cy="1600200"/>
          </a:xfrm>
          <a:prstGeom prst="rect">
            <a:avLst/>
          </a:prstGeom>
        </p:spPr>
      </p:pic>
      <p:pic>
        <p:nvPicPr>
          <p:cNvPr id="9" name="Image 1" descr="/tmp/claude-0/-home-user-X-check/362eecfc-c7f8-5a18-96a5-4b1ea84f8807/scratchpad/img/cp_owv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4434840"/>
            <a:ext cx="1122792" cy="1600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663440" y="4297680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井上尚弥展CP</a:t>
            </a:r>
            <a:endParaRPr lang="en-US" sz="800" dirty="0"/>
          </a:p>
        </p:txBody>
      </p:sp>
      <p:sp>
        <p:nvSpPr>
          <p:cNvPr id="11" name="Text 6"/>
          <p:cNvSpPr txBox="1"/>
          <p:nvPr/>
        </p:nvSpPr>
        <p:spPr>
          <a:xfrm>
            <a:off x="4663440" y="60350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OWV CP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6126480" y="2194560"/>
            <a:ext cx="5516575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30936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446520" y="2340864"/>
            <a:ext cx="50593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月間スケジュール（2026年10月〜2027年3月）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7040880" y="2670048"/>
            <a:ext cx="699973" cy="292608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10月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7777429" y="2670048"/>
            <a:ext cx="699973" cy="292608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11月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8513978" y="2670048"/>
            <a:ext cx="699973" cy="292608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12月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9250528" y="2670048"/>
            <a:ext cx="699973" cy="292608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1月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9987077" y="2670048"/>
            <a:ext cx="699973" cy="292608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2月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0723626" y="2670048"/>
            <a:ext cx="699973" cy="292608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3月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309360" y="3035808"/>
            <a:ext cx="5150815" cy="91440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355080" y="3035808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興行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6309360" y="4023360"/>
            <a:ext cx="5150815" cy="566928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355080" y="402336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企画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(毎月)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309360" y="4663440"/>
            <a:ext cx="5150815" cy="6400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663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賞品・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原資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7059168" y="3081528"/>
            <a:ext cx="681685" cy="384048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井上尚弥展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7059168" y="3511296"/>
            <a:ext cx="1418234" cy="384048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OWVチケット販売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8532266" y="3291840"/>
            <a:ext cx="1418234" cy="45720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大型イベント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（dカード先行→先行）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7059168" y="4069080"/>
            <a:ext cx="681685" cy="47548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井上尚弥展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CP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7795717" y="4069080"/>
            <a:ext cx="681685" cy="47548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OWV CP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8532266" y="4069080"/>
            <a:ext cx="681685" cy="47548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大型イベント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CP</a:t>
            </a:r>
            <a:endParaRPr lang="en-US" sz="950" dirty="0"/>
          </a:p>
        </p:txBody>
      </p:sp>
      <p:sp>
        <p:nvSpPr>
          <p:cNvPr id="33" name="Text 28"/>
          <p:cNvSpPr/>
          <p:nvPr/>
        </p:nvSpPr>
        <p:spPr>
          <a:xfrm>
            <a:off x="9268816" y="4069080"/>
            <a:ext cx="2154784" cy="47548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追加施策を検討・実施</a:t>
            </a:r>
            <a:endParaRPr lang="en-US" sz="950" dirty="0"/>
          </a:p>
        </p:txBody>
      </p:sp>
      <p:sp>
        <p:nvSpPr>
          <p:cNvPr id="34" name="Text 29"/>
          <p:cNvSpPr txBox="1"/>
          <p:nvPr/>
        </p:nvSpPr>
        <p:spPr>
          <a:xfrm>
            <a:off x="7040880" y="4681728"/>
            <a:ext cx="6999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グッズ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×10名</a:t>
            </a:r>
            <a:endParaRPr lang="en-US" sz="950" dirty="0"/>
          </a:p>
        </p:txBody>
      </p:sp>
      <p:sp>
        <p:nvSpPr>
          <p:cNvPr id="35" name="Text 30"/>
          <p:cNvSpPr txBox="1"/>
          <p:nvPr/>
        </p:nvSpPr>
        <p:spPr>
          <a:xfrm>
            <a:off x="7777429" y="4681728"/>
            <a:ext cx="6999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グッズ等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×10名</a:t>
            </a:r>
            <a:endParaRPr lang="en-US" sz="950" dirty="0"/>
          </a:p>
        </p:txBody>
      </p:sp>
      <p:sp>
        <p:nvSpPr>
          <p:cNvPr id="36" name="Text 31"/>
          <p:cNvSpPr txBox="1"/>
          <p:nvPr/>
        </p:nvSpPr>
        <p:spPr>
          <a:xfrm>
            <a:off x="8513978" y="4681728"/>
            <a:ext cx="6999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公演グッズ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(調整中)</a:t>
            </a:r>
            <a:endParaRPr lang="en-US" sz="950" dirty="0"/>
          </a:p>
        </p:txBody>
      </p:sp>
      <p:sp>
        <p:nvSpPr>
          <p:cNvPr id="37" name="Text 32"/>
          <p:cNvSpPr/>
          <p:nvPr/>
        </p:nvSpPr>
        <p:spPr>
          <a:xfrm>
            <a:off x="6309360" y="5532120"/>
            <a:ext cx="5150815" cy="54864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FY26末 累計 850人（目標）</a:t>
            </a:r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　→　120%達成 1,000人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② 新規事務所へのデータ活用型提案　10件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位置情報・dアカウントデータ × SQL分析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で主催者の集客課題に答える資料を作成。120%で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計12件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組織：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取扱興行を広げる　／　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自分：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データから仮説を立てる力を磨く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6035040" cy="1920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40864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分析の流れ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72491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303" y="2860975"/>
            <a:ext cx="294803" cy="29480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2743200"/>
            <a:ext cx="99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データ抽出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364992"/>
            <a:ext cx="167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SQLでdアカウント・位置情報を抽出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435352" y="2852928"/>
            <a:ext cx="256032" cy="31089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773680" y="272491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743" y="2860975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13760" y="2743200"/>
            <a:ext cx="99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分析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2727960" y="3364992"/>
            <a:ext cx="167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来場者属性・混雑度等を可視化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431792" y="2852928"/>
            <a:ext cx="256032" cy="31089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770120" y="27249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183" y="2860975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410200" y="2743200"/>
            <a:ext cx="99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営業資料化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724400" y="3364992"/>
            <a:ext cx="167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課題に合わせた提案書を作成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48640" y="4251960"/>
            <a:ext cx="6035040" cy="20116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31520" y="44348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68680" y="4398264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現在の課題と対策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731520" y="4709160"/>
            <a:ext cx="2583180" cy="1371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課題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分析時に仮説立てが不足しており、データから分かることを表層的に捉えてしまう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3817620" y="4709160"/>
            <a:ext cx="2583180" cy="1371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対策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常に「なぜ？」という視点を持ち、仮説を立ててからデータと向き合う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3387852" y="5239512"/>
            <a:ext cx="365760" cy="31089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766560" y="2194560"/>
            <a:ext cx="4876495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94944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086600" y="2340864"/>
            <a:ext cx="44192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提案先一覧（予定含む10件）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949440" y="2697480"/>
            <a:ext cx="2186788" cy="60350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949440" y="2697480"/>
            <a:ext cx="347472" cy="6035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949440" y="2697480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7379208" y="2697480"/>
            <a:ext cx="17113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りくりゅう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スポーツ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9273388" y="2697480"/>
            <a:ext cx="2186788" cy="60350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9273388" y="2697480"/>
            <a:ext cx="347472" cy="6035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9273388" y="2697480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9703156" y="2697480"/>
            <a:ext cx="17113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代々木イルミ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イベント</a:t>
            </a:r>
            <a:endParaRPr lang="en-US" sz="1400" dirty="0"/>
          </a:p>
        </p:txBody>
      </p:sp>
      <p:sp>
        <p:nvSpPr>
          <p:cNvPr id="38" name="Shape 33"/>
          <p:cNvSpPr/>
          <p:nvPr/>
        </p:nvSpPr>
        <p:spPr>
          <a:xfrm>
            <a:off x="6949440" y="3383280"/>
            <a:ext cx="2186788" cy="60350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6949440" y="3383280"/>
            <a:ext cx="347472" cy="6035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6949440" y="3383280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7379208" y="3383280"/>
            <a:ext cx="17113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ディズニー・オン・アイス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アイスショー</a:t>
            </a:r>
            <a:endParaRPr lang="en-US" sz="1400" dirty="0"/>
          </a:p>
        </p:txBody>
      </p:sp>
      <p:sp>
        <p:nvSpPr>
          <p:cNvPr id="42" name="Shape 37"/>
          <p:cNvSpPr/>
          <p:nvPr/>
        </p:nvSpPr>
        <p:spPr>
          <a:xfrm>
            <a:off x="9273388" y="3383280"/>
            <a:ext cx="2186788" cy="60350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273388" y="3383280"/>
            <a:ext cx="347472" cy="6035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9273388" y="3383280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0"/>
          <p:cNvSpPr txBox="1"/>
          <p:nvPr/>
        </p:nvSpPr>
        <p:spPr>
          <a:xfrm>
            <a:off x="9703156" y="3383280"/>
            <a:ext cx="17113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クリエイティブマン（サマソニ）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音楽フェス</a:t>
            </a:r>
            <a:endParaRPr lang="en-US" sz="1400" dirty="0"/>
          </a:p>
        </p:txBody>
      </p:sp>
      <p:sp>
        <p:nvSpPr>
          <p:cNvPr id="46" name="Shape 41"/>
          <p:cNvSpPr/>
          <p:nvPr/>
        </p:nvSpPr>
        <p:spPr>
          <a:xfrm>
            <a:off x="6949440" y="4069080"/>
            <a:ext cx="2186788" cy="60350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6949440" y="4069080"/>
            <a:ext cx="347472" cy="6035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6949440" y="4069080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49" name="Text 44"/>
          <p:cNvSpPr txBox="1"/>
          <p:nvPr/>
        </p:nvSpPr>
        <p:spPr>
          <a:xfrm>
            <a:off x="7379208" y="4069080"/>
            <a:ext cx="17113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ヤクルト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企業</a:t>
            </a:r>
            <a:endParaRPr lang="en-US" sz="1400" dirty="0"/>
          </a:p>
        </p:txBody>
      </p:sp>
      <p:sp>
        <p:nvSpPr>
          <p:cNvPr id="50" name="Shape 45"/>
          <p:cNvSpPr/>
          <p:nvPr/>
        </p:nvSpPr>
        <p:spPr>
          <a:xfrm>
            <a:off x="9273388" y="4069080"/>
            <a:ext cx="2186788" cy="60350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9273388" y="4069080"/>
            <a:ext cx="347472" cy="6035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9273388" y="4069080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3" name="Text 48"/>
          <p:cNvSpPr txBox="1"/>
          <p:nvPr/>
        </p:nvSpPr>
        <p:spPr>
          <a:xfrm>
            <a:off x="9703156" y="4069080"/>
            <a:ext cx="17113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サンリオFes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IPイベント</a:t>
            </a:r>
            <a:endParaRPr lang="en-US" sz="1400" dirty="0"/>
          </a:p>
        </p:txBody>
      </p:sp>
      <p:sp>
        <p:nvSpPr>
          <p:cNvPr id="54" name="Shape 49"/>
          <p:cNvSpPr/>
          <p:nvPr/>
        </p:nvSpPr>
        <p:spPr>
          <a:xfrm>
            <a:off x="6949440" y="4754880"/>
            <a:ext cx="2186788" cy="60350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6949440" y="4754880"/>
            <a:ext cx="347472" cy="6035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6949440" y="4754880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7379208" y="4754880"/>
            <a:ext cx="17113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大型音楽イベント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音楽</a:t>
            </a:r>
            <a:endParaRPr lang="en-US" sz="1400" dirty="0"/>
          </a:p>
        </p:txBody>
      </p:sp>
      <p:sp>
        <p:nvSpPr>
          <p:cNvPr id="58" name="Shape 53"/>
          <p:cNvSpPr/>
          <p:nvPr/>
        </p:nvSpPr>
        <p:spPr>
          <a:xfrm>
            <a:off x="9273388" y="4754880"/>
            <a:ext cx="2186788" cy="60350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9273388" y="4754880"/>
            <a:ext cx="347472" cy="6035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9273388" y="4754880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61" name="Text 56"/>
          <p:cNvSpPr txBox="1"/>
          <p:nvPr/>
        </p:nvSpPr>
        <p:spPr>
          <a:xfrm>
            <a:off x="9703156" y="4754880"/>
            <a:ext cx="17113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びわ湖大花火大会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花火</a:t>
            </a:r>
            <a:endParaRPr lang="en-US" sz="1400" dirty="0"/>
          </a:p>
        </p:txBody>
      </p:sp>
      <p:sp>
        <p:nvSpPr>
          <p:cNvPr id="62" name="Shape 57"/>
          <p:cNvSpPr/>
          <p:nvPr/>
        </p:nvSpPr>
        <p:spPr>
          <a:xfrm>
            <a:off x="6949440" y="5440680"/>
            <a:ext cx="2186788" cy="60350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3" name="Shape 58"/>
          <p:cNvSpPr/>
          <p:nvPr/>
        </p:nvSpPr>
        <p:spPr>
          <a:xfrm>
            <a:off x="6949440" y="5440680"/>
            <a:ext cx="347472" cy="6035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4" name="Text 59"/>
          <p:cNvSpPr txBox="1"/>
          <p:nvPr/>
        </p:nvSpPr>
        <p:spPr>
          <a:xfrm>
            <a:off x="6949440" y="5440680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65" name="Text 60"/>
          <p:cNvSpPr txBox="1"/>
          <p:nvPr/>
        </p:nvSpPr>
        <p:spPr>
          <a:xfrm>
            <a:off x="7379208" y="5440680"/>
            <a:ext cx="17113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下関花火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花火</a:t>
            </a:r>
            <a:endParaRPr lang="en-US" sz="1400" dirty="0"/>
          </a:p>
        </p:txBody>
      </p:sp>
      <p:sp>
        <p:nvSpPr>
          <p:cNvPr id="66" name="Shape 61"/>
          <p:cNvSpPr/>
          <p:nvPr/>
        </p:nvSpPr>
        <p:spPr>
          <a:xfrm>
            <a:off x="9273388" y="5440680"/>
            <a:ext cx="2186788" cy="60350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7" name="Shape 62"/>
          <p:cNvSpPr/>
          <p:nvPr/>
        </p:nvSpPr>
        <p:spPr>
          <a:xfrm>
            <a:off x="9273388" y="5440680"/>
            <a:ext cx="347472" cy="60350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273388" y="5440680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69" name="Text 64"/>
          <p:cNvSpPr txBox="1"/>
          <p:nvPr/>
        </p:nvSpPr>
        <p:spPr>
          <a:xfrm>
            <a:off x="9703156" y="5440680"/>
            <a:ext cx="17113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大型アーティスト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アーティスト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③ AIを使ったサイト提案 ／ ④ DX-ICT中級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③ AIでサイトのモックまで作り商談でプレゼン。④ SQL研修で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55万ID以上の分析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を資料に反映。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組織：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新たな販売導線とAI活用力　／　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自分：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Can（AI・Web開発）とMust（データ分析）を伸ばす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623560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40864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③ AIを使ったサイト提案（1件 → 120%：2件以上）</a:t>
            </a:r>
            <a:endParaRPr lang="en-US" sz="1500" dirty="0"/>
          </a:p>
        </p:txBody>
      </p:sp>
      <p:pic>
        <p:nvPicPr>
          <p:cNvPr id="7" name="Image 0" descr="/tmp/claude-0/-home-user-X-check/362eecfc-c7f8-5a18-96a5-4b1ea84f8807/scratchpad/img/ai_sanr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427" y="2697480"/>
            <a:ext cx="2762715" cy="1874520"/>
          </a:xfrm>
          <a:prstGeom prst="rect">
            <a:avLst/>
          </a:prstGeom>
        </p:spPr>
      </p:pic>
      <p:pic>
        <p:nvPicPr>
          <p:cNvPr id="8" name="Image 1" descr="/tmp/claude-0/-home-user-X-check/362eecfc-c7f8-5a18-96a5-4b1ea84f8807/scratchpad/img/ai_dtick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929" y="2697480"/>
            <a:ext cx="2219484" cy="1874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2427" y="4645152"/>
            <a:ext cx="27627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SANRIO SCHOOL FES 特設サイト案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サンリオ様・日本テレビ様・ドコモスタジオ&amp;ライブ様に自分の企画をプレゼン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38929" y="4645152"/>
            <a:ext cx="22194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 ticket公式サイトの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ブラッシュアップ案をAIで作成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5577840"/>
            <a:ext cx="5257800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今後もIPを用いたサイト開発を継続し、提案した企画の具体化を推進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355080" y="2194560"/>
            <a:ext cx="5287975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53796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675120" y="2340864"/>
            <a:ext cx="48307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④ DX-ICT中級（dxc研修の自組織実践）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154929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Before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大型抽出は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難しかった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8224418" y="2743200"/>
            <a:ext cx="1549298" cy="731520"/>
          </a:xfrm>
          <a:prstGeom prst="chevron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data X camp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SQL研修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9910877" y="2697480"/>
            <a:ext cx="1549298" cy="82296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After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大型抽出・分析を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自分で実行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537960" y="369417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0132" y="3786348"/>
            <a:ext cx="199705" cy="19970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013448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大型抽出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138160" y="3657600"/>
            <a:ext cx="3322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ディズニープラス会員の抽出（CS部提供データ）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537960" y="41696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0132" y="4261836"/>
            <a:ext cx="199705" cy="19970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013448" y="41330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大規模分析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138160" y="4133088"/>
            <a:ext cx="3322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55万ID以上を分析し、ヤクルト向け営業資料に反映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537960" y="464515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0132" y="4737324"/>
            <a:ext cx="199705" cy="19970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13448" y="4608576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イベント分析</a:t>
            </a:r>
            <a:endParaRPr 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8138160" y="4608576"/>
            <a:ext cx="3322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びわ湖大花火大会の提案データ分析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537960" y="5120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0132" y="5212812"/>
            <a:ext cx="199705" cy="19970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013448" y="508406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ナレッジ共有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138160" y="5084064"/>
            <a:ext cx="3322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AI活用法の社内共有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6537960" y="5577840"/>
            <a:ext cx="4922215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100%：自組織実践の完了　／　120%：＋AI活用ナレッジ共有1件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2103120" cy="1325880"/>
          </a:xfrm>
          <a:prstGeom prst="parallelogram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2926080" y="1097280"/>
            <a:ext cx="8686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アクションプラン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94415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971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このセクションで話すこと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529584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47472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120%達成に向けた、下期のスケジュールとアクション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096512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04164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目標宣言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1. 組織の目的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85811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2. 自分の目的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2982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3. 目的の差分と個人目標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260153" y="5897880"/>
            <a:ext cx="2145731" cy="384048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4. 目標別の取り組み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497324" y="5897880"/>
            <a:ext cx="2145731" cy="384048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5. アクションプラン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120%達成に向けたアクションプラン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残り半期は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①公式X施策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と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④自組織実践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に注力。①では他の業務から得たデータ分析の知見を活かし、効果測定を重視して進める。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94415" cy="4389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91840" y="2011680"/>
            <a:ext cx="4047592" cy="27432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2026年 3Q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76008" y="2011680"/>
            <a:ext cx="4084168" cy="27432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2027年 4Q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91840" y="2331720"/>
            <a:ext cx="1324813" cy="274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10月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53229" y="2331720"/>
            <a:ext cx="1324813" cy="274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11月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34941" y="2670048"/>
            <a:ext cx="0" cy="35204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14618" y="2331720"/>
            <a:ext cx="1324813" cy="274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12月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96330" y="2670048"/>
            <a:ext cx="0" cy="35204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376008" y="2331720"/>
            <a:ext cx="1324813" cy="274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57720" y="2670048"/>
            <a:ext cx="0" cy="35204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8737397" y="2331720"/>
            <a:ext cx="1324813" cy="274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2月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719109" y="2670048"/>
            <a:ext cx="0" cy="35204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0098786" y="2331720"/>
            <a:ext cx="1324813" cy="274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3月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80498" y="2670048"/>
            <a:ext cx="0" cy="35204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731520" y="2743200"/>
            <a:ext cx="2468880" cy="84124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① 公式Xフォロワー</a:t>
            </a:r>
            <a:endParaRPr lang="en-US" sz="12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120%：1,000人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19272" y="2798064"/>
            <a:ext cx="1288237" cy="329184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井上尚弥展CP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680661" y="2798064"/>
            <a:ext cx="1288237" cy="329184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OWV CP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42050" y="2798064"/>
            <a:ext cx="1288237" cy="329184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大型イベントCP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03440" y="2798064"/>
            <a:ext cx="4011016" cy="329184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追加施策の企画・実施（CP設計を更新）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19272" y="3255264"/>
            <a:ext cx="8095183" cy="329184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施策後の効果測定・投稿文チェック・運用ルールの改善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" y="3730752"/>
            <a:ext cx="2468880" cy="84124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② データ活用型提案</a:t>
            </a:r>
            <a:endParaRPr lang="en-US" sz="12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120%：12件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319272" y="3785616"/>
            <a:ext cx="4011016" cy="329184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提案中案件の資料作成・フォロー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03440" y="3785616"/>
            <a:ext cx="4011016" cy="329184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追加で2件の提案を作成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319272" y="4242816"/>
            <a:ext cx="8095183" cy="329184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SQLを用いた分析手法の磨き上げ（常に「なぜ？」）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31520" y="4718304"/>
            <a:ext cx="2468880" cy="53035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③ AIサイト提案</a:t>
            </a:r>
            <a:endParaRPr lang="en-US" sz="12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120%：2件以上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319272" y="4846320"/>
            <a:ext cx="4011016" cy="329184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提案した企画の具体化を推進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403440" y="4846320"/>
            <a:ext cx="4011016" cy="329184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IPを用いたサイト開発を継続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" y="5394960"/>
            <a:ext cx="2468880" cy="53035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④ DX-ICT中級</a:t>
            </a:r>
            <a:endParaRPr lang="en-US" sz="12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120%：＋ナレッジ共有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319272" y="5522976"/>
            <a:ext cx="5372405" cy="329184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data X camp での自組織実践を完了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764829" y="5522976"/>
            <a:ext cx="2649626" cy="329184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AI活用ナレッジ共有1件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291840" y="5989320"/>
            <a:ext cx="8168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■赤：マイルストーン（企画・成果物）　□白：継続タスク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目標宣言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組織の目的に貢献しながら、自分の目的に必要な力を身につける。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4つの個人目標すべてで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120%達成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を宣言します。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181448" cy="11887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94560"/>
            <a:ext cx="5181448" cy="347472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組織の目的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78608"/>
            <a:ext cx="48156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自社オウンド媒体の強化により、取扱興行のチケット販売を最大化する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61608" y="2194560"/>
            <a:ext cx="5181448" cy="11887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1608" y="2194560"/>
            <a:ext cx="5181448" cy="34747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自分の目的（3年後）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644488" y="2578608"/>
            <a:ext cx="48156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d ticketのデータ資産を活かして、自分にしかできない新しいソリューションを生み出す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730088" y="219456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5912968" y="3502152"/>
            <a:ext cx="365760" cy="320040"/>
          </a:xfrm>
          <a:prstGeom prst="down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977640"/>
            <a:ext cx="2636444" cy="22402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16052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4296583"/>
            <a:ext cx="294803" cy="294803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417320" y="4160520"/>
            <a:ext cx="1676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目標①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4416552"/>
            <a:ext cx="16763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公式Xのフォロワー拡大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892040"/>
            <a:ext cx="26364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120%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5148072"/>
            <a:ext cx="2270684" cy="8686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1,000人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3367964" y="3977640"/>
            <a:ext cx="2636444" cy="22402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550844" y="416052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907" y="4296583"/>
            <a:ext cx="294803" cy="294803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236644" y="4160520"/>
            <a:ext cx="1676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目標②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236644" y="4416552"/>
            <a:ext cx="16763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データ活用型提案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3367964" y="4892040"/>
            <a:ext cx="26364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120%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3550844" y="5148072"/>
            <a:ext cx="2270684" cy="8686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12件</a:t>
            </a:r>
            <a:endParaRPr lang="en-US" sz="2400" dirty="0"/>
          </a:p>
        </p:txBody>
      </p:sp>
      <p:sp>
        <p:nvSpPr>
          <p:cNvPr id="26" name="Shape 22"/>
          <p:cNvSpPr/>
          <p:nvPr/>
        </p:nvSpPr>
        <p:spPr>
          <a:xfrm>
            <a:off x="6187288" y="3977640"/>
            <a:ext cx="2636444" cy="22402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370168" y="416052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230" y="4296583"/>
            <a:ext cx="294803" cy="294803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55968" y="4160520"/>
            <a:ext cx="1676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目標③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7055968" y="4416552"/>
            <a:ext cx="16763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AIを使ったサイト提案</a:t>
            </a:r>
            <a:endParaRPr lang="en-US" sz="1300" dirty="0"/>
          </a:p>
        </p:txBody>
      </p:sp>
      <p:sp>
        <p:nvSpPr>
          <p:cNvPr id="31" name="Text 26"/>
          <p:cNvSpPr txBox="1"/>
          <p:nvPr/>
        </p:nvSpPr>
        <p:spPr>
          <a:xfrm>
            <a:off x="6187288" y="4892040"/>
            <a:ext cx="26364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120%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6370168" y="5148072"/>
            <a:ext cx="2270684" cy="8686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2件以上</a:t>
            </a:r>
            <a:endParaRPr lang="en-US" sz="2400" dirty="0"/>
          </a:p>
        </p:txBody>
      </p:sp>
      <p:sp>
        <p:nvSpPr>
          <p:cNvPr id="33" name="Shape 28"/>
          <p:cNvSpPr/>
          <p:nvPr/>
        </p:nvSpPr>
        <p:spPr>
          <a:xfrm>
            <a:off x="9006611" y="3977640"/>
            <a:ext cx="2636444" cy="22402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9189491" y="416052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554" y="4296583"/>
            <a:ext cx="294803" cy="294803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9875291" y="4160520"/>
            <a:ext cx="1676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目標④</a:t>
            </a:r>
            <a:endParaRPr lang="en-US" sz="1100" dirty="0"/>
          </a:p>
        </p:txBody>
      </p:sp>
      <p:sp>
        <p:nvSpPr>
          <p:cNvPr id="37" name="Text 31"/>
          <p:cNvSpPr txBox="1"/>
          <p:nvPr/>
        </p:nvSpPr>
        <p:spPr>
          <a:xfrm>
            <a:off x="9875291" y="4416552"/>
            <a:ext cx="16763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DX-ICT中級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9006611" y="4892040"/>
            <a:ext cx="26364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120%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9189491" y="5148072"/>
            <a:ext cx="2270684" cy="8686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自組織実践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＋ナレッジ共有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P PF Docomo Red">
  <a:themeElements>
    <a:clrScheme name="EP PF Docomo Red">
      <a:dk1>
        <a:srgbClr val="222222"/>
      </a:dk1>
      <a:lt1>
        <a:srgbClr val="FFFFFF"/>
      </a:lt1>
      <a:dk2>
        <a:srgbClr val="444444"/>
      </a:dk2>
      <a:lt2>
        <a:srgbClr val="FAFAFA"/>
      </a:lt2>
      <a:accent1>
        <a:srgbClr val="CC0033"/>
      </a:accent1>
      <a:accent2>
        <a:srgbClr val="A31D2B"/>
      </a:accent2>
      <a:accent3>
        <a:srgbClr val="777777"/>
      </a:accent3>
      <a:accent4>
        <a:srgbClr val="D4D4D4"/>
      </a:accent4>
      <a:accent5>
        <a:srgbClr val="B5B5B5"/>
      </a:accent5>
      <a:accent6>
        <a:srgbClr val="F2F2F2"/>
      </a:accent6>
      <a:hlink>
        <a:srgbClr val="CC0033"/>
      </a:hlink>
      <a:folHlink>
        <a:srgbClr val="A31D2B"/>
      </a:folHlink>
    </a:clrScheme>
    <a:fontScheme name="EP PF Docomo Red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目標宣言資料</dc:title>
  <dc:subject>PptxGenJS Presentation</dc:subject>
  <dc:creator>EP部 PF推進 室谷佳汰</dc:creator>
  <cp:lastModifiedBy>EP部 PF推進 室谷佳汰</cp:lastModifiedBy>
  <cp:revision>1</cp:revision>
  <dcterms:created xsi:type="dcterms:W3CDTF">2026-10-08T02:05:37Z</dcterms:created>
  <dcterms:modified xsi:type="dcterms:W3CDTF">2026-10-08T02:05:37Z</dcterms:modified>
</cp:coreProperties>
</file>