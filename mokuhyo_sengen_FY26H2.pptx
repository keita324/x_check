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表紙" id="{29d8cabc-2190-7cea-4004-07b2ce814b31}">
          <p14:sldIdLst>
            <p14:sldId id="256"/>
          </p14:sldIdLst>
        </p14:section>
        <p14:section name="イントロ" id="{f099f3d0-6342-6775-d942-756a92958551}">
          <p14:sldIdLst>
            <p14:sldId id="257"/>
            <p14:sldId id="258"/>
          </p14:sldIdLst>
        </p14:section>
        <p14:section name="部署・サービス紹介" id="{afbc58e6-efab-56cb-aa85-fd3ca21832bd}">
          <p14:sldIdLst>
            <p14:sldId id="259"/>
            <p14:sldId id="260"/>
            <p14:sldId id="261"/>
          </p14:sldIdLst>
        </p14:section>
        <p14:section name="担当業務と目標" id="{49c6e743-9c7e-1d4e-83ee-21c7483c8c73}">
          <p14:sldIdLst>
            <p14:sldId id="262"/>
            <p14:sldId id="263"/>
          </p14:sldIdLst>
        </p14:section>
        <p14:section name="目標別の取り組み" id="{7b75fa7e-5d75-e9e7-010e-2f7285175180}">
          <p14:sldIdLst>
            <p14:sldId id="264"/>
            <p14:sldId id="265"/>
            <p14:sldId id="266"/>
            <p14:sldId id="267"/>
            <p14:sldId id="268"/>
          </p14:sldIdLst>
        </p14:section>
        <p14:section name="アクションプラン" id="{bdda3c9c-d357-213a-7d84-78cd5f472e2e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1111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11111"/>
                </a:solidFill>
                <a:latin typeface="+mn-lt"/>
              </a:rPr>
              <a:t>フォロワー数目標（累計・人）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フォロワー数目標（累計）</c:v>
                </c:pt>
              </c:strCache>
            </c:strRef>
          </c:tx>
          <c:spPr>
            <a:solidFill>
              <a:srgbClr val="CC0033"/>
            </a:solidFill>
            <a:ln w="38100" cap="flat">
              <a:solidFill>
                <a:srgbClr val="CC00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11111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CC0033"/>
              </a:solidFill>
              <a:ln w="9525" cap="flat">
                <a:solidFill>
                  <a:srgbClr val="CC00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10月</c:v>
                  </c:pt>
                  <c:pt idx="1">
                    <c:v>11月</c:v>
                  </c:pt>
                  <c:pt idx="2">
                    <c:v>12月</c:v>
                  </c:pt>
                  <c:pt idx="3">
                    <c:v>1月</c:v>
                  </c:pt>
                  <c:pt idx="4">
                    <c:v>2月</c:v>
                  </c:pt>
                  <c:pt idx="5">
                    <c:v>3月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450</c:v>
                </c:pt>
                <c:pt idx="1">
                  <c:v>520</c:v>
                </c:pt>
                <c:pt idx="2">
                  <c:v>750</c:v>
                </c:pt>
                <c:pt idx="3">
                  <c:v>790</c:v>
                </c:pt>
                <c:pt idx="4">
                  <c:v>820</c:v>
                </c:pt>
                <c:pt idx="5">
                  <c:v>850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11111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0"/>
        <c:axPos val="l"/>
        <c:majorGridlines>
          <c:spPr>
            <a:ln w="9525" cap="flat">
              <a:solidFill>
                <a:srgbClr val="DADADA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6E6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P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02336"/>
            <a:ext cx="384048" cy="457200"/>
          </a:xfrm>
          <a:prstGeom prst="parallelogram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0680192" y="274320"/>
            <a:ext cx="960120" cy="23774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秘密度C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Confidential ©2026 NTT DOCOMO, INC. All Rights Reserved.</a:t>
            </a:r>
            <a:endParaRPr lang="en-US" sz="8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chemeClr val="accent6"/>
                </a:solidFill>
              </a:rPr>
              <a:t>Confidential ©2026 NTT DOCOMO, INC. All Rights Reserved.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"/>
          <p:cNvSpPr/>
          <p:nvPr/>
        </p:nvSpPr>
        <p:spPr>
          <a:xfrm>
            <a:off x="7863840" y="-182880"/>
            <a:ext cx="5669280" cy="722376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548640"/>
            <a:ext cx="2743200" cy="45720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548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EP部  PF推進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FY26 下期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目標宣言資料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9476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集客 × データ × AI で、d ticket を伸ばす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EP部 PF推進</a:t>
            </a:r>
            <a:endParaRPr lang="en-US" sz="14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室谷 佳汰</a:t>
            </a:r>
            <a:endParaRPr lang="en-US" sz="1400" dirty="0"/>
          </a:p>
        </p:txBody>
      </p:sp>
      <p:pic>
        <p:nvPicPr>
          <p:cNvPr id="9" name="Image 0" descr="/tmp/claude-0/-home-user-X-check/362eecfc-c7f8-5a18-96a5-4b1ea84f8807/scratchpad/img/dticke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971800"/>
            <a:ext cx="2926080" cy="7315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692640" y="411480"/>
            <a:ext cx="1965960" cy="822960"/>
          </a:xfrm>
          <a:prstGeom prst="rect">
            <a:avLst/>
          </a:prstGeom>
          <a:noFill/>
          <a:ln w="9525">
            <a:solidFill>
              <a:schemeClr val="bg1"/>
            </a:solidFill>
          </a:ln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秘密度C</a:t>
            </a:r>
            <a:endParaRPr lang="en-US" sz="14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作成者：EP部PF推進</a:t>
            </a:r>
            <a:endParaRPr lang="en-US" sz="14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作成日：2026/10/7</a:t>
            </a:r>
            <a:endParaRPr lang="en-US" sz="1400" dirty="0"/>
          </a:p>
          <a:p>
            <a:pPr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廃棄日：2027/3/末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アジェンダ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036003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331720"/>
            <a:ext cx="14873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11880"/>
            <a:ext cx="14873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部署・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サービス紹介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52628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EP部の事業と d ticket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13243" y="2011680"/>
            <a:ext cx="2036003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87563" y="2331720"/>
            <a:ext cx="14873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3087563" y="3611880"/>
            <a:ext cx="14873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私の担当業務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087563" y="452628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4つの役割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77846" y="2011680"/>
            <a:ext cx="2036003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52166" y="2331720"/>
            <a:ext cx="14873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5352166" y="3611880"/>
            <a:ext cx="14873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年間目標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52166" y="452628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チーム目標と個人目標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42449" y="2011680"/>
            <a:ext cx="2036003" cy="35661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16769" y="2331720"/>
            <a:ext cx="14873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7616769" y="3611880"/>
            <a:ext cx="14873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目標別の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取り組み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616769" y="452628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4つの目標の進捗と打ち手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607052" y="2011680"/>
            <a:ext cx="2036003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81372" y="2331720"/>
            <a:ext cx="148736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9881372" y="3611880"/>
            <a:ext cx="14873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アクション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プラン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881372" y="4526280"/>
            <a:ext cx="14873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120%達成へのスケジュール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※ 04 が本資料のメインパート</a:t>
            </a:r>
            <a:endParaRPr lang="en-US" sz="1100" dirty="0"/>
          </a:p>
        </p:txBody>
      </p:sp>
      <p:sp>
        <p:nvSpPr>
          <p:cNvPr id="24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3657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Q.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突然ですが――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11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ドコモがやっているエンタメ事業、</a:t>
            </a:r>
            <a:endParaRPr lang="en-US" sz="4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何があるでしょうか？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ヒント：スタジアム、アリーナ、チケット、そして…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エンターテイメントプラットフォーム部について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独自のIPを創出し、リアル×デジタルの一気通貫体験でヒットIPに育て「IP360°展開」へ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3703320" cy="438912"/>
          </a:xfrm>
          <a:prstGeom prst="homePlat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コンテンツ（IP）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288536" y="1645920"/>
            <a:ext cx="3703320" cy="438912"/>
          </a:xfrm>
          <a:prstGeom prst="chevron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プラットフォーム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28432" y="1645920"/>
            <a:ext cx="3703320" cy="438912"/>
          </a:xfrm>
          <a:prstGeom prst="chevron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IP360° 展開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49424"/>
            <a:ext cx="1751076" cy="15681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432304"/>
            <a:ext cx="347472" cy="3474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43000" y="2432304"/>
            <a:ext cx="1019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音楽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935224"/>
            <a:ext cx="1476756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アーティスト開発・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マネジメント、レーベル運営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09444" y="2249424"/>
            <a:ext cx="1751076" cy="15681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036" y="2432304"/>
            <a:ext cx="347472" cy="3474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03804" y="2432304"/>
            <a:ext cx="1019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スポーツ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574036" y="2935224"/>
            <a:ext cx="1476756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プロリーグ・チームとの協業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927348"/>
            <a:ext cx="1751076" cy="15681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110228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43000" y="4110228"/>
            <a:ext cx="1019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興行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13232" y="4613148"/>
            <a:ext cx="1476756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自主・共催興行の開催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409444" y="3927348"/>
            <a:ext cx="1751076" cy="1568196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4036" y="4110228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3003804" y="4110228"/>
            <a:ext cx="1019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映像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2574036" y="4613148"/>
            <a:ext cx="1476756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番組企画・制作、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配信権販売、制作委員会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4288536" y="22494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リアルPF（ベニュー）</a:t>
            </a:r>
            <a:endParaRPr lang="en-US" sz="1300" dirty="0"/>
          </a:p>
        </p:txBody>
      </p:sp>
      <p:pic>
        <p:nvPicPr>
          <p:cNvPr id="24" name="Image 4" descr="/tmp/claude-0/-home-user-X-check/362eecfc-c7f8-5a18-96a5-4b1ea84f8807/scratchpad/img/venue-kokuritsu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88536" y="2596896"/>
            <a:ext cx="1755648" cy="914400"/>
          </a:xfrm>
          <a:prstGeom prst="rect">
            <a:avLst/>
          </a:prstGeom>
        </p:spPr>
      </p:pic>
      <p:pic>
        <p:nvPicPr>
          <p:cNvPr id="25" name="Image 5" descr="/tmp/claude-0/-home-user-X-check/362eecfc-c7f8-5a18-96a5-4b1ea84f8807/scratchpad/img/venue-igarena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44768" y="2596896"/>
            <a:ext cx="1755648" cy="9144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288536" y="357530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MUFGスタジアム（国立競技場）／IGアリーナ／GLIONアリーナ／有明アリーナ／静岡市アリーナ（2030年開業）</a:t>
            </a:r>
            <a:endParaRPr lang="en-US" sz="1100" dirty="0"/>
          </a:p>
        </p:txBody>
      </p:sp>
      <p:sp>
        <p:nvSpPr>
          <p:cNvPr id="27" name="Text 19"/>
          <p:cNvSpPr txBox="1"/>
          <p:nvPr/>
        </p:nvSpPr>
        <p:spPr>
          <a:xfrm>
            <a:off x="4288536" y="41879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デジタルPF（ファンエンゲージメント）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4288536" y="4535424"/>
            <a:ext cx="1751076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ファンPF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6149340" y="4535424"/>
            <a:ext cx="1751076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 ticket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4288536" y="5038344"/>
            <a:ext cx="1751076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グッズ・EC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6149340" y="5038344"/>
            <a:ext cx="1751076" cy="411480"/>
          </a:xfrm>
          <a:prstGeom prst="roundRect">
            <a:avLst>
              <a:gd name="adj" fmla="val 17778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アリーナアプリ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8691372" y="2729484"/>
            <a:ext cx="2286000" cy="2286000"/>
          </a:xfrm>
          <a:prstGeom prst="ellipse">
            <a:avLst/>
          </a:prstGeom>
          <a:solidFill>
            <a:schemeClr val="bg1"/>
          </a:solidFill>
          <a:ln w="76200">
            <a:solidFill>
              <a:schemeClr val="accent1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9331452" y="3369564"/>
            <a:ext cx="1005840" cy="10058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</a:t>
            </a:r>
            <a:endParaRPr lang="en-US" sz="2400" dirty="0"/>
          </a:p>
        </p:txBody>
      </p:sp>
      <p:sp>
        <p:nvSpPr>
          <p:cNvPr id="34" name="Text 26"/>
          <p:cNvSpPr/>
          <p:nvPr/>
        </p:nvSpPr>
        <p:spPr>
          <a:xfrm>
            <a:off x="9445752" y="2574036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アニメ</a:t>
            </a:r>
            <a:endParaRPr lang="en-US" sz="1100" dirty="0"/>
          </a:p>
        </p:txBody>
      </p:sp>
      <p:sp>
        <p:nvSpPr>
          <p:cNvPr id="35" name="Text 27"/>
          <p:cNvSpPr/>
          <p:nvPr/>
        </p:nvSpPr>
        <p:spPr>
          <a:xfrm>
            <a:off x="10253975" y="2908813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ドラマ</a:t>
            </a:r>
            <a:endParaRPr lang="en-US" sz="1100" dirty="0"/>
          </a:p>
        </p:txBody>
      </p:sp>
      <p:sp>
        <p:nvSpPr>
          <p:cNvPr id="36" name="Text 28"/>
          <p:cNvSpPr/>
          <p:nvPr/>
        </p:nvSpPr>
        <p:spPr>
          <a:xfrm>
            <a:off x="10588752" y="3717036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音楽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10253975" y="4525259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ライブ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9445752" y="4860036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グッズ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8637529" y="4525259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ゲーム</a:t>
            </a:r>
            <a:endParaRPr lang="en-US" sz="1100" dirty="0"/>
          </a:p>
        </p:txBody>
      </p:sp>
      <p:sp>
        <p:nvSpPr>
          <p:cNvPr id="40" name="Text 32"/>
          <p:cNvSpPr/>
          <p:nvPr/>
        </p:nvSpPr>
        <p:spPr>
          <a:xfrm>
            <a:off x="8165592" y="3717036"/>
            <a:ext cx="105156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特別な体験</a:t>
            </a:r>
            <a:endParaRPr lang="en-US" sz="1100" dirty="0"/>
          </a:p>
        </p:txBody>
      </p:sp>
      <p:sp>
        <p:nvSpPr>
          <p:cNvPr id="41" name="Text 33"/>
          <p:cNvSpPr/>
          <p:nvPr/>
        </p:nvSpPr>
        <p:spPr>
          <a:xfrm>
            <a:off x="8637529" y="2908813"/>
            <a:ext cx="777240" cy="310896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9525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コミック</a:t>
            </a:r>
            <a:endParaRPr lang="en-US" sz="1100" dirty="0"/>
          </a:p>
        </p:txBody>
      </p:sp>
      <p:sp>
        <p:nvSpPr>
          <p:cNvPr id="42" name="Text 34"/>
          <p:cNvSpPr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データマネジメント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　─ すべてのレイヤーをデータでつなぎ、循環させる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 ticketとは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全国のスポーツ・音楽ライブなどを扱うチケット販売サービス（2025年10月開始）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257800" cy="443484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/tmp/claude-0/-home-user-X-check/362eecfc-c7f8-5a18-96a5-4b1ea84f8807/scratchpad/img/dticket-u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4892040" cy="21305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411480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あんしん・安全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ドコモの情報セキュリティ技術 × 転売防止機能</a:t>
            </a:r>
            <a:endParaRPr lang="en-US" sz="1400" dirty="0"/>
          </a:p>
          <a:p>
            <a:pPr indent="0" marL="0">
              <a:buNone/>
            </a:pPr>
            <a:r>
              <a:rPr lang="en-US" sz="6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＋ ドコモならではの付加価値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dアカウント連携のデータ分析と、ドコモアセットを活用したマーケティング・プロモーション支援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035040" y="1645920"/>
            <a:ext cx="2735428" cy="1386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920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370" y="2091690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59168" y="1901952"/>
            <a:ext cx="15924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販売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059168" y="2304288"/>
            <a:ext cx="1592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先着／抽選、座席指定／券種指定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907628" y="1645920"/>
            <a:ext cx="2735428" cy="1386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9090508" y="1920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1958" y="209169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931756" y="1901952"/>
            <a:ext cx="15924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決済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9931756" y="2304288"/>
            <a:ext cx="1592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クレジットカード、d払い、コンビニ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035040" y="3169920"/>
            <a:ext cx="2735428" cy="1386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3444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370" y="3615690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59168" y="3425952"/>
            <a:ext cx="15924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再販売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7059168" y="3828288"/>
            <a:ext cx="1592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公式リセール、券種アップグレード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907628" y="3169920"/>
            <a:ext cx="2735428" cy="1386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090508" y="3444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1958" y="3615690"/>
            <a:ext cx="342900" cy="3429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931756" y="3425952"/>
            <a:ext cx="15924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利用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9931756" y="3828288"/>
            <a:ext cx="1592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電子チケット発券に対応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035040" y="4693920"/>
            <a:ext cx="2735428" cy="1386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217920" y="4968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370" y="5139690"/>
            <a:ext cx="342900" cy="34290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059168" y="4949952"/>
            <a:ext cx="15924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データ分析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7059168" y="5352288"/>
            <a:ext cx="1592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dアカウントログイン連携</a:t>
            </a: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8907628" y="4693920"/>
            <a:ext cx="2735428" cy="1386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9090508" y="49682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1958" y="5139690"/>
            <a:ext cx="342900" cy="3429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9931756" y="4949952"/>
            <a:ext cx="15924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マーケ／プロモ</a:t>
            </a:r>
            <a:endParaRPr lang="en-US" sz="1600" dirty="0"/>
          </a:p>
        </p:txBody>
      </p:sp>
      <p:sp>
        <p:nvSpPr>
          <p:cNvPr id="36" name="Text 27"/>
          <p:cNvSpPr txBox="1"/>
          <p:nvPr/>
        </p:nvSpPr>
        <p:spPr>
          <a:xfrm>
            <a:off x="9931756" y="5352288"/>
            <a:ext cx="15924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オウンドメディア、関連企業連携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 ticket の取扱イベント（一部）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ボクシング・相撲から音楽フェス、花火大会まで ─ 国内最大級のベニューで販売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5262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/tmp/claude-0/-home-user-X-check/362eecfc-c7f8-5a18-96a5-4b1ea84f8807/scratchpad/img/ev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6946" y="1737360"/>
            <a:ext cx="9817804" cy="4343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私の担当業務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 ticket の成長を「集客・データ・AI・人材」の4軸で推進しています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2154" cy="4434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20599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36394" y="2011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2053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マーケティング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8328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公式X運用・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オウンド施策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22960" y="4389120"/>
            <a:ext cx="4572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4572000"/>
            <a:ext cx="20535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 ticket公式Xの運用・施策提案、ドコモオウンド広告の効果検証（GA・購入者分析など）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79394" y="1691640"/>
            <a:ext cx="2602154" cy="4434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3714" y="2011680"/>
            <a:ext cx="777240" cy="7772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24" y="2205990"/>
            <a:ext cx="388620" cy="38862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067148" y="2011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3653714" y="3017520"/>
            <a:ext cx="2053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データ分析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653714" y="338328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データ活用型の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営業資料作成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653714" y="4389120"/>
            <a:ext cx="4572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53714" y="4572000"/>
            <a:ext cx="20535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ドコモが持つ位置情報・dアカウントデータを使った提案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10148" y="1691640"/>
            <a:ext cx="2602154" cy="4434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84468" y="2011680"/>
            <a:ext cx="777240" cy="7772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78" y="2205990"/>
            <a:ext cx="388620" cy="3886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897901" y="2011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6484468" y="3017520"/>
            <a:ext cx="2053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開発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484468" y="338328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AIを使った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サイト提案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6484468" y="4389120"/>
            <a:ext cx="4572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484468" y="4572000"/>
            <a:ext cx="20535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サンリオや大型アーティスト等、IPを用いたサイト開発に従事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9040901" y="1691640"/>
            <a:ext cx="2602154" cy="4434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9315221" y="2011680"/>
            <a:ext cx="777240" cy="7772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531" y="2205990"/>
            <a:ext cx="388620" cy="38862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0728655" y="2011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32" name="Text 26"/>
          <p:cNvSpPr txBox="1"/>
          <p:nvPr/>
        </p:nvSpPr>
        <p:spPr>
          <a:xfrm>
            <a:off x="9315221" y="3017520"/>
            <a:ext cx="2053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人材育成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9315221" y="338328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DX-ICT</a:t>
            </a:r>
            <a:endParaRPr lang="en-US" sz="1800" dirty="0"/>
          </a:p>
        </p:txBody>
      </p:sp>
      <p:sp>
        <p:nvSpPr>
          <p:cNvPr id="34" name="Shape 28"/>
          <p:cNvSpPr/>
          <p:nvPr/>
        </p:nvSpPr>
        <p:spPr>
          <a:xfrm>
            <a:off x="9315221" y="4389120"/>
            <a:ext cx="45720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9315221" y="4572000"/>
            <a:ext cx="20535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 X camp への参加、AI活用法の社内共有 など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チームの年間目標と個人目標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チーム目標に直結する4つの個人目標を設定し、120%達成を目指します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206240" cy="45262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930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売上計画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14884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万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926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dアカ捕捉数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2900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chemeClr val="bg1"/>
                </a:solidFill>
              </a:rPr>
              <a:t>チケットビジネスの価値向上（dチケオウンド）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chemeClr val="bg1"/>
                </a:solidFill>
              </a:rPr>
              <a:t>データ活用 × AI による提案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chemeClr val="bg1"/>
                </a:solidFill>
              </a:rPr>
              <a:t>新規案件の創出（新規事務所への提案10件）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chemeClr val="bg1"/>
                </a:solidFill>
              </a:rPr>
              <a:t>DX-ICT人材の育成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691640"/>
            <a:ext cx="6613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GOALS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　個人目標（120%達成を宣言）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194560"/>
          <a:ext cx="661385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743200"/>
                <a:gridCol w="1051560"/>
                <a:gridCol w="1371600"/>
                <a:gridCol w="94457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個人目標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100%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120%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チーム目標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公式Xのフォロワー拡大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850人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1,000人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価値向上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新規事務所へのデータ活用型提案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12件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新規創出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AIを使ったサイト提案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1件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2件以上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データ×AI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DX-ICT中級（dxc研修の自組織実践）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自組織実践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＋AI活用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ナレッジ共有</a:t>
                      </a:r>
                      <a:endParaRPr lang="en-US" sz="15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accent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人材育成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目標①  公式Xのフォロワー拡大 ─ 1,000人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プロジェクトマネージャーとして、毎月1本のフォロー＆リポスト企画を回します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02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9751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企画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30428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公演・イベントと連動したキャンペーンを毎月1本立案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83464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01752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8163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30723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投稿文チェック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463040" y="340156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表現・レギュレーションを確認し、品質を担保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1148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9136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1696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効果測定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49884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フォロワー増分・リポスト数を施策ごとに計測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502920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21208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50109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26694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運用ルール改善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463040" y="55961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結果を次の企画・CP設計に反映</a:t>
            </a:r>
            <a:endParaRPr lang="en-US" sz="1200" dirty="0"/>
          </a:p>
        </p:txBody>
      </p:sp>
      <p:pic>
        <p:nvPicPr>
          <p:cNvPr id="24" name="Image 4" descr="/tmp/claude-0/-home-user-X-check/362eecfc-c7f8-5a18-96a5-4b1ea84f8807/scratchpad/img/cp_owv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1364" y="1691640"/>
            <a:ext cx="2758861" cy="3931920"/>
          </a:xfrm>
          <a:prstGeom prst="rect">
            <a:avLst/>
          </a:prstGeom>
        </p:spPr>
      </p:pic>
      <p:pic>
        <p:nvPicPr>
          <p:cNvPr id="25" name="Image 5" descr="/tmp/claude-0/-home-user-X-check/362eecfc-c7f8-5a18-96a5-4b1ea84f8807/scratchpad/img/cp_theda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4545" y="1691640"/>
            <a:ext cx="2958510" cy="39319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651364" y="5696712"/>
            <a:ext cx="2758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OWV LIVE TOUR 2026 両国国技館公演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フォロー＆リポストCP</a:t>
            </a:r>
            <a:endParaRPr lang="en-US" sz="1000" dirty="0"/>
          </a:p>
        </p:txBody>
      </p:sp>
      <p:sp>
        <p:nvSpPr>
          <p:cNvPr id="27" name="Text 19"/>
          <p:cNvSpPr txBox="1"/>
          <p:nvPr/>
        </p:nvSpPr>
        <p:spPr>
          <a:xfrm>
            <a:off x="8684545" y="5696712"/>
            <a:ext cx="29585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井上尚弥選手 THE DAY展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公式グッズプレゼントCP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目標①  フォロワー数ロードマップ（FY26）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10〜12月の大型施策で一気に積み上げ、1〜3月の追加施策で 850人（100%）→ 1,000人（120%）へ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5410048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5410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※12月以降は計画値（仮置き）。120%ライン＝1,000人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691640"/>
          <a:ext cx="5410048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91640"/>
                <a:gridCol w="1645920"/>
                <a:gridCol w="124952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興行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企画（毎月1回）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賞品・原資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井上尚弥展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OWVチケット販売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井上尚弥展CP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グッズ（未定）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OWV公演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OWV CP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OWVグッズ×○名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大型イベント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（先行販売）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大型イベントCP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公演グッズ×○名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1〜3月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─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追加施策を検討・実施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─</a:t>
                      </a:r>
                      <a:endParaRPr lang="en-US" sz="12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233008" y="5669280"/>
            <a:ext cx="5410048" cy="5029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324448" y="5669280"/>
            <a:ext cx="5227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現状80人</a:t>
            </a:r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→ </a:t>
            </a:r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850人(100%)</a:t>
            </a:r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→ </a:t>
            </a:r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1,000人(120%)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目標②  新規事務所へのデータ活用型提案 ─ 10件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ドコモの位置情報・dアカウントデータ × SQL分析で、主催者の集客課題に答える提案をつくる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291840" cy="45262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現在の提案数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 / 10件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74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100% 達成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4069080"/>
            <a:ext cx="265176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42519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120%に向けて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720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＋2件 作成 → 12件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1206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SQLを用いた分析手法をさらに磨き上げ、件数を増やす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60520" y="1645920"/>
            <a:ext cx="7482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提案先（10件）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60520" y="205740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りくりゅう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84459" y="205740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代々木イルミ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08398" y="205740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ディズニー・オン・アイス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732337" y="205740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クリエイティブマン（サマソニ）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256276" y="205740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ヤクルト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60520" y="292608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サンリオFes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84459" y="292608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大型音楽イベント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08398" y="292608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びわ湖大花火大会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732337" y="292608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下関花火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56276" y="2926080"/>
            <a:ext cx="1386779" cy="731520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MISIA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160520" y="3977640"/>
            <a:ext cx="7482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提案の型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160520" y="4389120"/>
            <a:ext cx="594360" cy="5943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9110" y="4537710"/>
            <a:ext cx="297180" cy="29718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892040" y="4498848"/>
            <a:ext cx="1579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データ抽出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4160520" y="5120640"/>
            <a:ext cx="2311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SQLで dアカウント・位置情報を大規模抽出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490106" y="45262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▶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746138" y="4389120"/>
            <a:ext cx="594360" cy="5943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728" y="4537710"/>
            <a:ext cx="297180" cy="29718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477658" y="4498848"/>
            <a:ext cx="1579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分析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6746138" y="5120640"/>
            <a:ext cx="2311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来場者属性・商圏・購買傾向を可視化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075725" y="45262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▶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9331757" y="43891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47" y="4537710"/>
            <a:ext cx="297180" cy="29718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063277" y="4498848"/>
            <a:ext cx="15797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営業資料化</a:t>
            </a:r>
            <a:endParaRPr lang="en-US" sz="1500" dirty="0"/>
          </a:p>
        </p:txBody>
      </p:sp>
      <p:sp>
        <p:nvSpPr>
          <p:cNvPr id="37" name="Text 32"/>
          <p:cNvSpPr txBox="1"/>
          <p:nvPr/>
        </p:nvSpPr>
        <p:spPr>
          <a:xfrm>
            <a:off x="9331757" y="5120640"/>
            <a:ext cx="23112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主催者の集客課題に合わせた提案書に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目標③  AIを使ったサイト提案 ─ 2件以上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AIで企画からサイトのモックまでを短期間でつくり、商談の場でそのまま見せる</a:t>
            </a:r>
            <a:endParaRPr lang="en-US" sz="1500" dirty="0"/>
          </a:p>
        </p:txBody>
      </p:sp>
      <p:pic>
        <p:nvPicPr>
          <p:cNvPr id="4" name="Image 0" descr="/tmp/claude-0/-home-user-X-check/362eecfc-c7f8-5a18-96a5-4b1ea84f8807/scratchpad/img/ai_san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784214" cy="3246120"/>
          </a:xfrm>
          <a:prstGeom prst="rect">
            <a:avLst/>
          </a:prstGeom>
        </p:spPr>
      </p:pic>
      <p:pic>
        <p:nvPicPr>
          <p:cNvPr id="5" name="Image 1" descr="/tmp/claude-0/-home-user-X-check/362eecfc-c7f8-5a18-96a5-4b1ea84f8807/scratchpad/img/ai_dtick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614" y="1691640"/>
            <a:ext cx="3843496" cy="32461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074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1051560" y="5074920"/>
            <a:ext cx="42812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SANRIO SCHOOL FES 特設サイト案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051560" y="5532120"/>
            <a:ext cx="42812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サンリオ様・日本テレビ様・ドコモスタジオ&amp;ライブ様とのMTGで企画をプレゼン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698614" y="507492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201534" y="5074920"/>
            <a:ext cx="3340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 ticket サイト UI改善案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201534" y="5532120"/>
            <a:ext cx="3340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イベント検索〜購入導線の改善案を作成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862151" y="1691640"/>
            <a:ext cx="1780905" cy="43891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090751" y="1920240"/>
            <a:ext cx="132370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達成状況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0090751" y="2240280"/>
            <a:ext cx="132370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件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090751" y="3474720"/>
            <a:ext cx="13237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目標1件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 120%ライン達成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0090751" y="4297680"/>
            <a:ext cx="132370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今後も、サンリオや大型アーティスト等のIPを用いたサイト開発を継続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目標④  DX-ICT人材育成 ─ 中級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data X camp で身につけたSQLスキルを、自組織の営業提案にそのまま実装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023360" cy="45262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745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SQL研修の成果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万ID+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611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ヤクルト向け営業資料で分析したID数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976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大型データの抽出が自分でできるようになり、提案のスピードと深さが向上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92040" y="1691640"/>
            <a:ext cx="566928" cy="5669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3772" y="1833372"/>
            <a:ext cx="283464" cy="28346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669280" y="170992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大型抽出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170992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ディズニープラス会員の抽出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2468880"/>
            <a:ext cx="566928" cy="5669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772" y="2610612"/>
            <a:ext cx="283464" cy="28346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669280" y="248716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大規模分析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498080" y="248716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55万ID以上を分析し、ヤクルト向け営業資料に反映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892040" y="3246120"/>
            <a:ext cx="566928" cy="5669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3772" y="33878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69280" y="3264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イベント分析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7498080" y="326440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びわ湖大花火大会の提案データ分析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4892040" y="4023360"/>
            <a:ext cx="566928" cy="56692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7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669280" y="404164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ナレッジ共有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98080" y="4041648"/>
            <a:ext cx="4144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AI活用法を社内へ共有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4892040" y="4983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目標進捗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4892040" y="5394960"/>
            <a:ext cx="6751015" cy="3657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892040" y="5394960"/>
            <a:ext cx="3375508" cy="36576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0" y="5394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4892040" y="5852160"/>
            <a:ext cx="6751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120%に向け：data X camp の自組織実践を完了＋AI活用ナレッジ共有1件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120%達成に向けたアクションプラン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目標②③は100%到達済み。残り半期は①フォロワー拡大と④自組織実践に注力します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645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目標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645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現状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120%に向けたアクション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94415" cy="914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40280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1168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公式Xフォロワー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21396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80 / 850人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0" y="2578608"/>
            <a:ext cx="2926080" cy="182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0" y="2578608"/>
            <a:ext cx="275396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201168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リポスト企画3件の遂行、施策後の効果測定・投稿文チェック、運用ルール改善。CP設計を更新し1,000人へ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44952"/>
            <a:ext cx="11094415" cy="914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273552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044952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データ活用型提案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172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 / 10件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0" y="3611880"/>
            <a:ext cx="2926080" cy="182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3611880"/>
            <a:ext cx="2926080" cy="1828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3044952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SQL分析手法を磨き、＋2件作成で12件へ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078224"/>
            <a:ext cx="11094415" cy="914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4306824"/>
            <a:ext cx="457200" cy="4572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4078224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AIサイト提案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0" y="4206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 / 1件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657600" y="4645152"/>
            <a:ext cx="2926080" cy="182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4645152"/>
            <a:ext cx="2926080" cy="18288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49440" y="4078224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120%ライン達成済み。IP（サンリオ・大型アーティスト等）のサイト開発を継続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111496"/>
            <a:ext cx="11094415" cy="914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5340096"/>
            <a:ext cx="457200" cy="4572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5111496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DX-ICT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657600" y="5239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50%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3657600" y="5678424"/>
            <a:ext cx="2926080" cy="18288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0" y="5678424"/>
            <a:ext cx="1463040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49440" y="5111496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 X camp の自組織実践を完了し、AI活用のナレッジを1件共有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1097280" y="329184"/>
            <a:ext cx="9418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スケジュール（FY26 下期）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017520" y="1097280"/>
            <a:ext cx="4276192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3Q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30288" y="1097280"/>
            <a:ext cx="4312768" cy="292608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4Q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17520" y="1444752"/>
            <a:ext cx="1401013" cy="29260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10月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455109" y="1444752"/>
            <a:ext cx="1401013" cy="29260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11月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6821" y="1810512"/>
            <a:ext cx="0" cy="457200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892698" y="1444752"/>
            <a:ext cx="1401013" cy="29260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12月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874410" y="1810512"/>
            <a:ext cx="0" cy="457200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7330288" y="1444752"/>
            <a:ext cx="1401013" cy="29260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2000" y="1810512"/>
            <a:ext cx="0" cy="457200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8767877" y="1444752"/>
            <a:ext cx="1401013" cy="29260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49589" y="1810512"/>
            <a:ext cx="0" cy="457200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10205466" y="1444752"/>
            <a:ext cx="1401013" cy="292608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187178" y="1810512"/>
            <a:ext cx="0" cy="457200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48640" y="1920240"/>
            <a:ext cx="2377440" cy="1060704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① 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公式Xフォロワー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44952" y="1993392"/>
            <a:ext cx="1364437" cy="36576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井上尚弥展CP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2541" y="1993392"/>
            <a:ext cx="1364437" cy="36576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OWV CP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920130" y="1993392"/>
            <a:ext cx="1364437" cy="36576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大型イベントCP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57720" y="1993392"/>
            <a:ext cx="4239616" cy="36576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追加施策の企画・実施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44952" y="2560320"/>
            <a:ext cx="8552383" cy="36576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効果測定・投稿文チェック・運用ルール改善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145536"/>
            <a:ext cx="2377440" cy="1060704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② 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データ活用型提案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044952" y="3218688"/>
            <a:ext cx="4239616" cy="36576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提案済10件のフォロー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57720" y="3218688"/>
            <a:ext cx="4239616" cy="36576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＋2件 作成（12件へ）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44952" y="3785616"/>
            <a:ext cx="8552383" cy="36576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SQL分析手法の磨き上げ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370832"/>
            <a:ext cx="2377440" cy="493776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③ 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AIサイト提案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044952" y="4443984"/>
            <a:ext cx="8552383" cy="36576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IPサイト開発の継続（サンリオ・大型アーティスト等）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5029200"/>
            <a:ext cx="2377440" cy="493776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④ </a:t>
            </a:r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DX-ICT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044952" y="5102352"/>
            <a:ext cx="5677205" cy="365760"/>
          </a:xfrm>
          <a:prstGeom prst="homePlat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data X camp 自組織実践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795309" y="5102352"/>
            <a:ext cx="2802026" cy="365760"/>
          </a:xfrm>
          <a:prstGeom prst="homePlate">
            <a:avLst/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AIナレッジ共有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017520" y="5989320"/>
            <a:ext cx="8625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■ 赤：マイルストーン（企画・成果物）　□ 白：継続タスク</a:t>
            </a:r>
            <a:endParaRPr lang="en-US" sz="1000" dirty="0"/>
          </a:p>
        </p:txBody>
      </p:sp>
      <p:sp>
        <p:nvSpPr>
          <p:cNvPr id="32" name="Text 3"/>
          <p:cNvSpPr/>
          <p:nvPr>
            <p:ph idx="104" type="body" hasCustomPrompt="1"/>
          </p:nvPr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28232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457200" cy="548640"/>
          </a:xfrm>
          <a:prstGeom prst="parallelogram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8229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宣言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集客 × データ × AI で、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chemeClr val="bg1"/>
                </a:solidFill>
              </a:rPr>
              <a:t>d ticket の成長を加速させます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977640"/>
            <a:ext cx="2567864" cy="19202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2519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</a:t>
            </a:r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公式Xフォロワー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90824" y="3977640"/>
            <a:ext cx="2567864" cy="19202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65144" y="42519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525780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データ活用型提案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3977640"/>
            <a:ext cx="2567864" cy="19202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07328" y="42519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件+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525780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AIサイト提案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075191" y="3977640"/>
            <a:ext cx="2567864" cy="192024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49511" y="425196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49511" y="525780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DX-ICT 自組織実践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P PF Black White Red">
  <a:themeElements>
    <a:clrScheme name="EP PF Black White Red">
      <a:dk1>
        <a:srgbClr val="111111"/>
      </a:dk1>
      <a:lt1>
        <a:srgbClr val="FFFFFF"/>
      </a:lt1>
      <a:dk2>
        <a:srgbClr val="3A3A3A"/>
      </a:dk2>
      <a:lt2>
        <a:srgbClr val="F3F3F3"/>
      </a:lt2>
      <a:accent1>
        <a:srgbClr val="CC0033"/>
      </a:accent1>
      <a:accent2>
        <a:srgbClr val="111111"/>
      </a:accent2>
      <a:accent3>
        <a:srgbClr val="6E6E6E"/>
      </a:accent3>
      <a:accent4>
        <a:srgbClr val="DADADA"/>
      </a:accent4>
      <a:accent5>
        <a:srgbClr val="8C0023"/>
      </a:accent5>
      <a:accent6>
        <a:srgbClr val="BDBDBD"/>
      </a:accent6>
      <a:hlink>
        <a:srgbClr val="CC0033"/>
      </a:hlink>
      <a:folHlink>
        <a:srgbClr val="8C0023"/>
      </a:folHlink>
    </a:clrScheme>
    <a:fontScheme name="EP PF Black White Red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目標宣言資料</dc:title>
  <dc:subject>PptxGenJS Presentation</dc:subject>
  <dc:creator>EP部 PF推進 室谷佳汰</dc:creator>
  <cp:lastModifiedBy>EP部 PF推進 室谷佳汰</cp:lastModifiedBy>
  <cp:revision>1</cp:revision>
  <dcterms:created xsi:type="dcterms:W3CDTF">2026-10-07T12:36:39Z</dcterms:created>
  <dcterms:modified xsi:type="dcterms:W3CDTF">2026-10-07T12:36:39Z</dcterms:modified>
</cp:coreProperties>
</file>