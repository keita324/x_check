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55b59546-b048-89fd-7a70-d0ba48841d8a}">
          <p14:sldIdLst>
            <p14:sldId id="256"/>
          </p14:sldIdLst>
        </p14:section>
        <p14:section name="イントロ" id="{778c1690-4f06-c3a4-abfb-3b8852b1732b}">
          <p14:sldIdLst>
            <p14:sldId id="257"/>
            <p14:sldId id="258"/>
          </p14:sldIdLst>
        </p14:section>
        <p14:section name="部署・サービス紹介" id="{dbbb6b05-4970-e8b1-b47d-37cceb4992eb}">
          <p14:sldIdLst>
            <p14:sldId id="259"/>
            <p14:sldId id="260"/>
            <p14:sldId id="261"/>
          </p14:sldIdLst>
        </p14:section>
        <p14:section name="担当業務と目標" id="{99567ee7-2ac3-b6be-7454-86c9659d09f6}">
          <p14:sldIdLst>
            <p14:sldId id="262"/>
            <p14:sldId id="263"/>
          </p14:sldIdLst>
        </p14:section>
        <p14:section name="目標別の取り組み" id="{216e0f1b-f751-656a-5e44-a7a792139e24}">
          <p14:sldIdLst>
            <p14:sldId id="264"/>
            <p14:sldId id="265"/>
            <p14:sldId id="266"/>
            <p14:sldId id="267"/>
            <p14:sldId id="268"/>
          </p14:sldIdLst>
        </p14:section>
        <p14:section name="アクションプラン" id="{05685ee0-9f2c-224e-6345-47bacc97c727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フォロワー数目標（累計）</c:v>
                </c:pt>
              </c:strCache>
            </c:strRef>
          </c:tx>
          <c:spPr>
            <a:solidFill>
              <a:srgbClr val="CC0033"/>
            </a:solidFill>
            <a:ln w="31750" cap="flat">
              <a:solidFill>
                <a:srgbClr val="CC00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C0033"/>
              </a:solidFill>
              <a:ln w="9525" cap="flat">
                <a:solidFill>
                  <a:srgbClr val="CC00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10月</c:v>
                  </c:pt>
                  <c:pt idx="1">
                    <c:v>11月</c:v>
                  </c:pt>
                  <c:pt idx="2">
                    <c:v>12月</c:v>
                  </c:pt>
                  <c:pt idx="3">
                    <c:v>1月</c:v>
                  </c:pt>
                  <c:pt idx="4">
                    <c:v>2月</c:v>
                  </c:pt>
                  <c:pt idx="5">
                    <c:v>3月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450</c:v>
                </c:pt>
                <c:pt idx="1">
                  <c:v>520</c:v>
                </c:pt>
                <c:pt idx="2">
                  <c:v>750</c:v>
                </c:pt>
                <c:pt idx="3">
                  <c:v>790</c:v>
                </c:pt>
                <c:pt idx="4">
                  <c:v>820</c:v>
                </c:pt>
                <c:pt idx="5">
                  <c:v>850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22222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777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9184"/>
            <a:ext cx="960120" cy="621792"/>
          </a:xfrm>
          <a:prstGeom prst="parallelogram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469880" y="201168"/>
            <a:ext cx="1371600" cy="21945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秘密度C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241280" y="4754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©2026 NTT DOCOMO, INC. All Rights Reserved.</a:t>
            </a:r>
            <a:endParaRPr lang="en-US" sz="800" dirty="0"/>
          </a:p>
        </p:txBody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Confidential ©2026 NTT DOCOMO, INC. All Rights Reserved.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84048"/>
            <a:ext cx="5760720" cy="566928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384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bg1"/>
                </a:solidFill>
              </a:rPr>
              <a:t>EP部　PF推進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778240" y="320040"/>
            <a:ext cx="3063240" cy="868680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txBody>
          <a:bodyPr wrap="square" lIns="50800" tIns="101600" rIns="101600" bIns="5080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chemeClr val="tx1"/>
                </a:solidFill>
              </a:rPr>
              <a:t>秘密度 C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作成者：EP部PF推進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作成日：2026/10/7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廃棄日：2027/3/末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2240280"/>
            <a:ext cx="10424160" cy="178308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目標宣言資料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375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FY26 下期　d ticket の集客・データ・AI 推進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44348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EP部 PF推進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室谷 佳汰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417320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417320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3716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部署・サービス紹介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37160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エンタメPF部と d ticket 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221992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350008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350008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30428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私の担当業務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304288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マーケティング／データ分析／開発／人材育成 の4領域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3282696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282696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3236976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年間目標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236976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チーム目標と、それに紐づく個人目標（120%達成宣言）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4087368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" y="4215384"/>
            <a:ext cx="1051560" cy="621792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4215384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4169664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目標別の取り組み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169664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4つの個人目標の進捗と打ち手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69880" y="4370832"/>
            <a:ext cx="685800" cy="310896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メイン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97280" y="5020056"/>
            <a:ext cx="996696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5148072"/>
            <a:ext cx="1051560" cy="621792"/>
          </a:xfrm>
          <a:prstGeom prst="parallelogram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514807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2468880" y="5102352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アクションプラン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852160" y="5102352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120%達成に向けたアクションとスケジュール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突然ですが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11680" y="1828800"/>
            <a:ext cx="8138160" cy="2651760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Q.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00000"/>
                </a:solidFill>
              </a:rPr>
              <a:t>ドコモがやっているエンタメ事業、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00000"/>
                </a:solidFill>
              </a:rPr>
              <a:t>何があるでしょうか？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47091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ヒント：スタジアム、アリーナ、チケット、そして…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エンターテイメントプラットフォーム部について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「ここでしか見られないコンテンツ（IP）」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を創出し、リアル・デジタル一気通貫の推し活体験を提供。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ヒットIPへと育成し、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IP360°展開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へとつなげていく。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76272"/>
            <a:ext cx="3703320" cy="402336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コンテンツ（IP）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88536" y="2176272"/>
            <a:ext cx="3703320" cy="402336"/>
          </a:xfrm>
          <a:prstGeom prst="chevro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プラットフォーム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28432" y="2176272"/>
            <a:ext cx="3703320" cy="402336"/>
          </a:xfrm>
          <a:prstGeom prst="chevro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IP360° 展開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611880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960120" cy="58521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音楽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755648" y="280720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アーティスト開発・マネジメント、レーベル運営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3529584"/>
            <a:ext cx="960120" cy="58521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スポーツ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755648" y="3529584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サッカー・野球・ラグビー等のプロリーグ・チームとの協業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4251960"/>
            <a:ext cx="960120" cy="58521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興行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755648" y="42519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自主・共催興行の開催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4974336"/>
            <a:ext cx="960120" cy="58521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映像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755648" y="497433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番組企画・制作、配信権販売、制作委員会参画 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8536" y="2670048"/>
            <a:ext cx="3611880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25696" y="27614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accent2"/>
                </a:solidFill>
              </a:rPr>
              <a:t>リアルPF（ベニュー）</a:t>
            </a:r>
            <a:endParaRPr lang="en-US" sz="1200" dirty="0"/>
          </a:p>
        </p:txBody>
      </p:sp>
      <p:pic>
        <p:nvPicPr>
          <p:cNvPr id="18" name="Image 0" descr="/tmp/claude-0/-home-user-X-check/362eecfc-c7f8-5a18-96a5-4b1ea84f8807/scratchpad/img/venue-kokurits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25696" y="3081528"/>
            <a:ext cx="1600200" cy="777240"/>
          </a:xfrm>
          <a:prstGeom prst="rect">
            <a:avLst/>
          </a:prstGeom>
        </p:spPr>
      </p:pic>
      <p:pic>
        <p:nvPicPr>
          <p:cNvPr id="19" name="Image 1" descr="/tmp/claude-0/-home-user-X-check/362eecfc-c7f8-5a18-96a5-4b1ea84f8807/scratchpad/img/venue-igaren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63056" y="3081528"/>
            <a:ext cx="1600200" cy="7772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425696" y="391363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MUFGスタジアム（国立競技場）／IGアリーナ／GLIONアリーナ／有明アリーナ／静岡市アリーナ（2030年開業）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425696" y="445312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accent2"/>
                </a:solidFill>
              </a:rPr>
              <a:t>デジタルPF（ファンエンゲージメント）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25696" y="4818888"/>
            <a:ext cx="1613916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ファンPF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149340" y="4818888"/>
            <a:ext cx="1613916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 ticket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25696" y="5276088"/>
            <a:ext cx="1613916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グッズ・EC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149340" y="5276088"/>
            <a:ext cx="1613916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アリーナアプリ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028432" y="2670048"/>
            <a:ext cx="3611880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37092" y="3104388"/>
            <a:ext cx="2194560" cy="2194560"/>
          </a:xfrm>
          <a:prstGeom prst="ellipse">
            <a:avLst/>
          </a:prstGeom>
          <a:solidFill>
            <a:schemeClr val="bg2"/>
          </a:solidFill>
          <a:ln w="63500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77172" y="3744468"/>
            <a:ext cx="914400" cy="9144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9468612" y="2958084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アニメ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10244506" y="3279470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ドラマ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0565892" y="4055364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音楽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244506" y="4831258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ライブ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9468612" y="5152644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グッズ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692718" y="4831258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ゲーム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234172" y="4055364"/>
            <a:ext cx="10058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特別な体験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8692718" y="3279470"/>
            <a:ext cx="73152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コミック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データマネジメント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 ticketとは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全国のスポーツや音楽ライブなどを取り扱うチケット販売サービス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（2025年10月より開始）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転売防止機能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によるあんしん・安全に加え、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dアカウント連携のデータ分析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・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ドコモアセットでの販促支援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を提供。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21208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サービス画面（イメージ）</a:t>
            </a:r>
            <a:endParaRPr lang="en-US" sz="1500" dirty="0"/>
          </a:p>
        </p:txBody>
      </p:sp>
      <p:pic>
        <p:nvPicPr>
          <p:cNvPr id="7" name="Image 0" descr="/tmp/claude-0/-home-user-X-check/362eecfc-c7f8-5a18-96a5-4b1ea84f8807/scratchpad/img/dticket-u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4846320" cy="2103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5166360"/>
            <a:ext cx="1170432" cy="384048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公演選択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947672" y="5166360"/>
            <a:ext cx="1170432" cy="384048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購入手続き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163824" y="5166360"/>
            <a:ext cx="1170432" cy="384048"/>
          </a:xfrm>
          <a:prstGeom prst="homePlat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座席選択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379976" y="5166360"/>
            <a:ext cx="1170432" cy="38404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決済完了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650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スマホで購入まで完結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43600" y="2194560"/>
            <a:ext cx="569945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12648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340864"/>
            <a:ext cx="5242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主な機能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26480" y="2697480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63640" y="2898648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259" y="3052267"/>
            <a:ext cx="332842" cy="33284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834640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販売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7040880" y="3200400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先着／抽選、座席指定／券種指定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861908" y="2697480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999068" y="2898648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687" y="3052267"/>
            <a:ext cx="332842" cy="33284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776308" y="2834640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決済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776308" y="3200400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クレジットカード、d払い、コンビニ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126480" y="3858768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263640" y="4059936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259" y="4213555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40880" y="3995928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再販売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7040880" y="4361688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公式リセール、券種アップグレード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8861908" y="3858768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8999068" y="4059936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2687" y="4213555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776308" y="3995928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利用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776308" y="4361688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電子チケット発券に対応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126480" y="5020056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263640" y="522122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7259" y="5374843"/>
            <a:ext cx="332842" cy="332842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040880" y="5157216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データ分析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7040880" y="5522976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dアカウントログイン連携による分析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8861908" y="5020056"/>
            <a:ext cx="2598268" cy="1051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999068" y="522122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2687" y="5374843"/>
            <a:ext cx="332842" cy="33284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776308" y="5157216"/>
            <a:ext cx="1592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マーケ／プロモ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9776308" y="5522976"/>
            <a:ext cx="1592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オウンドメディア、関連企業連携</a:t>
            </a:r>
            <a:endParaRPr lang="en-US" sz="1100" dirty="0"/>
          </a:p>
        </p:txBody>
      </p:sp>
      <p:sp>
        <p:nvSpPr>
          <p:cNvPr id="46" name="Text 37"/>
          <p:cNvSpPr txBox="1"/>
          <p:nvPr/>
        </p:nvSpPr>
        <p:spPr>
          <a:xfrm>
            <a:off x="8716975" y="2304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赤＝ドコモならではの付加価値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 ticketの取扱イベント（一部）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ボクシング・相撲から音楽フェス、花火大会まで、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国内主要ベニューの大型イベント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で販売実績を積み上げている。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94415" cy="4389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Image 0" descr="/tmp/claude-0/-home-user-X-check/362eecfc-c7f8-5a18-96a5-4b1ea84f8807/scratchpad/img/ev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5309" y="2011680"/>
            <a:ext cx="9301078" cy="4114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私の担当業務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d ticket の成長に向け、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マーケティング・データ分析・開発・人材育成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の4領域を担当。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それぞれの業務を個人目標と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1対1で紐づけ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、成果を数値で追っている。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636444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5420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542032"/>
            <a:ext cx="1539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マーケティング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公式Xの運用・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ドコモオウンド施策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023360"/>
            <a:ext cx="22706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 ticket公式Xの運用・施策提案、ドコモオウンド広告の効果検証（GA・購入者分析など）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683982" y="5330952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5669280"/>
            <a:ext cx="2636444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目標① フォロワー 1,000人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7964" y="2194560"/>
            <a:ext cx="2636444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50844" y="2377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436" y="2542032"/>
            <a:ext cx="356616" cy="356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373804" y="2542032"/>
            <a:ext cx="1539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データ分析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550844" y="32004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データ分析を用いた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営業資料作成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3550844" y="4023360"/>
            <a:ext cx="22706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ドコモが持つ位置情報・dアカウントデータを使った新規案件への提案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503306" y="5330952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367964" y="5669280"/>
            <a:ext cx="2636444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目標② データ提案 12件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87288" y="2194560"/>
            <a:ext cx="2636444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70168" y="2377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542032"/>
            <a:ext cx="356616" cy="35661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193128" y="2542032"/>
            <a:ext cx="1539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開発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370168" y="32004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AIを使った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サイト提案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6370168" y="4023360"/>
            <a:ext cx="22706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サンリオや大型アーティスト等、IPを用いたサイト開発に従事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322630" y="5330952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187288" y="5669280"/>
            <a:ext cx="2636444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目標③ AIサイト 2件以上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9006611" y="2194560"/>
            <a:ext cx="2636444" cy="3063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189491" y="2377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083" y="2542032"/>
            <a:ext cx="356616" cy="35661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0012451" y="2542032"/>
            <a:ext cx="1539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人材育成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9189491" y="32004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DX-ICT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189491" y="4023360"/>
            <a:ext cx="22706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data X camp への参加、AI活用法の社内共有 等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10141953" y="5330952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9006611" y="5669280"/>
            <a:ext cx="2636444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目標④ DX-ICT中級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チームでの年間目標と個人目標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チーム目標（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売上計画930M・dアカ捕捉数18万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）に直結する4つの個人目標を設定。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個人目標はすべて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120%達成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を宣言する。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94415" cy="1691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3172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95144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チーム目標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194560"/>
            <a:ext cx="7253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売上計画 </a:t>
            </a:r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930M</a:t>
            </a:r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　　dアカ捕捉数 </a:t>
            </a:r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18万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545004" cy="8686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チケットビジネスの価値向上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（dチケオウンド）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1142" y="3904488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9404" y="2743200"/>
            <a:ext cx="2545004" cy="8686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新規案件の創出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（新規事務所への提案10件）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49026" y="3904488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7288" y="2743200"/>
            <a:ext cx="2545004" cy="8686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データ活用×AIによる提案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76910" y="3904488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171" y="2743200"/>
            <a:ext cx="2545004" cy="8686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DX-ICT人材の育成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004793" y="3904488"/>
            <a:ext cx="36576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251960"/>
            <a:ext cx="2545004" cy="2011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251960"/>
            <a:ext cx="254500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個人目標①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690872"/>
            <a:ext cx="22706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公式Xのフォロワー拡大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86902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850人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821142" y="5705856"/>
            <a:ext cx="36576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86902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1,000人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59404" y="4251960"/>
            <a:ext cx="2545004" cy="2011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9404" y="4251960"/>
            <a:ext cx="254500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個人目標②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596564" y="4690872"/>
            <a:ext cx="22706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新規事務所への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データ活用型提案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596564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914786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596564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10件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49026" y="5705856"/>
            <a:ext cx="36576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14786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12件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187288" y="4251960"/>
            <a:ext cx="2545004" cy="2011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7288" y="4251960"/>
            <a:ext cx="254500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個人目標③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324448" y="4690872"/>
            <a:ext cx="22706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AIを使ったサイト提案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24448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642669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324448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1件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276910" y="5705856"/>
            <a:ext cx="36576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42669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2件以上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915171" y="4251960"/>
            <a:ext cx="2545004" cy="2011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15171" y="4251960"/>
            <a:ext cx="254500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個人目標④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052331" y="4690872"/>
            <a:ext cx="22706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DX-ICT中級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dxc研修の自組織実践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052331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370553" y="5413248"/>
            <a:ext cx="952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120%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52331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自組織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実践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004793" y="5705856"/>
            <a:ext cx="36576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370553" y="5641848"/>
            <a:ext cx="952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＋ナレッジ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共有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目標①　公式Xのフォロワー拡大施策　1,000人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プロジェクトマネージャー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として、公演と連動した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フォロー＆リポスト企画を毎月1本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推進。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現状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80人／850人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。企画→チェック→効果測定→改善のサイクルを回し、120%の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1,000人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を目指す。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PMとしての運用サイクル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51560" y="3246120"/>
            <a:ext cx="2194560" cy="2194560"/>
          </a:xfrm>
          <a:prstGeom prst="ellipse">
            <a:avLst/>
          </a:prstGeom>
          <a:solidFill>
            <a:schemeClr val="bg2"/>
          </a:solidFill>
          <a:ln w="31750">
            <a:solidFill>
              <a:schemeClr val="accent1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417320" y="38404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毎月1本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フォロー＆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リポスト企画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37944" y="2935224"/>
            <a:ext cx="621792" cy="6217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7174" y="3084454"/>
            <a:ext cx="323332" cy="3233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276856" y="288036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03320" y="2807208"/>
            <a:ext cx="329184" cy="32918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142232" y="269748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企画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公演と連動したCPを毎月1本立案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35224" y="403250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54" y="4181734"/>
            <a:ext cx="323332" cy="3233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74136" y="397764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2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703320" y="3675888"/>
            <a:ext cx="329184" cy="32918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142232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投稿文チェック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表現・レギュレーションを確認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1837944" y="512978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174" y="5279014"/>
            <a:ext cx="323332" cy="32333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276856" y="507492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3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3703320" y="4544568"/>
            <a:ext cx="329184" cy="32918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142232" y="44348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効果測定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フォロワー増分・リポスト数を計測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40664" y="403250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894" y="4181734"/>
            <a:ext cx="323332" cy="3233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179576" y="397764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4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3703320" y="5413248"/>
            <a:ext cx="329184" cy="32918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4142232" y="530352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運用ルール改善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次回の企画・CP設計に反映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6217920" y="2194560"/>
            <a:ext cx="542513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0080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37960" y="2340864"/>
            <a:ext cx="4967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実施キャンペーン</a:t>
            </a:r>
            <a:endParaRPr lang="en-US" sz="1500" dirty="0"/>
          </a:p>
        </p:txBody>
      </p:sp>
      <p:pic>
        <p:nvPicPr>
          <p:cNvPr id="32" name="Image 4" descr="/tmp/claude-0/-home-user-X-check/362eecfc-c7f8-5a18-96a5-4b1ea84f8807/scratchpad/img/cp_owv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555" y="2697480"/>
            <a:ext cx="2149345" cy="3063240"/>
          </a:xfrm>
          <a:prstGeom prst="rect">
            <a:avLst/>
          </a:prstGeom>
        </p:spPr>
      </p:pic>
      <p:pic>
        <p:nvPicPr>
          <p:cNvPr id="33" name="Image 5" descr="/tmp/claude-0/-home-user-X-check/362eecfc-c7f8-5a18-96a5-4b1ea84f8807/scratchpad/img/cp_theda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4535" y="2697480"/>
            <a:ext cx="2304886" cy="30632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58675" y="5788152"/>
            <a:ext cx="251510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OWV 両国国技館公演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フォロー＆リポストCP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8831655" y="5788152"/>
            <a:ext cx="267064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井上尚弥選手 THE DAY展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公式グッズプレゼントCP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目標①　フォロワー数ロードマップ（FY26）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10〜12月は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興行連動の企画（毎月1回）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で積み上げ、1〜3月は追加施策を模索。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FY26末に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850人（100%）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、さらに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1,000人（120%）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を目指す。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55768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499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フォロワー数目標（累計・人）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2651760"/>
          <a:ext cx="518144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31520" y="5943600"/>
            <a:ext cx="5090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※12月以降は計画値（仮置き）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87288" y="2194560"/>
            <a:ext cx="5455768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70168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07328" y="2340864"/>
            <a:ext cx="499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月別の施策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70168" y="2697480"/>
            <a:ext cx="247642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70168" y="2697480"/>
            <a:ext cx="247642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10月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932191" y="2697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+450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3154680"/>
            <a:ext cx="2202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興行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井上尚弥展／OWVチケット販売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企画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井上尚弥展CP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賞品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グッズ（未定）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983751" y="2697480"/>
            <a:ext cx="247642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83751" y="2697480"/>
            <a:ext cx="247642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11月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45775" y="2697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+70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120911" y="3154680"/>
            <a:ext cx="2202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興行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OWV公演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企画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OWV CP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賞品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OWVグッズ×○名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370168" y="4453128"/>
            <a:ext cx="247642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70168" y="4453128"/>
            <a:ext cx="2476424" cy="36576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12月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32191" y="44531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大型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7328" y="4910328"/>
            <a:ext cx="2202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興行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大型イベント（先行販売）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企画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大型イベントCP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賞品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公演グッズ×○名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983751" y="4453128"/>
            <a:ext cx="2476424" cy="1645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83751" y="4453128"/>
            <a:ext cx="2476424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1〜3月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545775" y="44531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→850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120911" y="4910328"/>
            <a:ext cx="2202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興行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企画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追加施策を模索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賞品　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目標②　新規事務所へのデータ活用型提案　10件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ドコモの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位置情報・dアカウントデータ × SQL分析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で、主催者の集客課題に答える営業資料を作成。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提案数は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10件／10件（100%達成）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。120%達成に向け、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プラス2件（計12件）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を作成する。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57784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提案先（10件）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697480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97480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697480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りくりゅう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63140" y="26974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スポーツ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6140" y="2697480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06140" y="2697480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06140" y="2697480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81628" y="2697480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代々木イルミ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26974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イベント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355848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355848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355848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355848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ディズニー・オン・アイス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263140" y="3355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アイスショー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06140" y="3355848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06140" y="3355848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06140" y="3355848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81628" y="3355848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クリエイティブマン（サマソニ）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355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音楽フェス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4014216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014216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014216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4014216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ヤクルト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63140" y="401421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企業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06140" y="4014216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06140" y="4014216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06140" y="4014216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881628" y="4014216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サンリオFes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937760" y="401421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IPイベント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1520" y="4672584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4672584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4672584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207008" y="4672584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大型音楽イベント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263140" y="46725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音楽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06140" y="4672584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06140" y="4672584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06140" y="4672584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881628" y="4672584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びわ湖大花火大会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937760" y="46725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花火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" y="5330952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1520" y="5330952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1520" y="5330952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1207008" y="5330952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下関花火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2263140" y="53309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花火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406140" y="5330952"/>
            <a:ext cx="2537460" cy="5669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06140" y="5330952"/>
            <a:ext cx="384048" cy="5669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06140" y="5330952"/>
            <a:ext cx="384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3881628" y="5330952"/>
            <a:ext cx="102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MISIA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937760" y="53309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アーティスト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309360" y="2194560"/>
            <a:ext cx="5333695" cy="2148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9224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629400" y="2340864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提案の型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927037" y="2651760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878" y="2796601"/>
            <a:ext cx="313822" cy="313822"/>
          </a:xfrm>
          <a:prstGeom prst="rect">
            <a:avLst/>
          </a:prstGeom>
        </p:spPr>
      </p:pic>
      <p:sp>
        <p:nvSpPr>
          <p:cNvPr id="62" name="Text 59"/>
          <p:cNvSpPr txBox="1"/>
          <p:nvPr/>
        </p:nvSpPr>
        <p:spPr>
          <a:xfrm>
            <a:off x="6492240" y="3310128"/>
            <a:ext cx="1473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データ抽出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6492240" y="3639312"/>
            <a:ext cx="14730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SQLでdアカウント・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位置情報を抽出</a:t>
            </a:r>
            <a:endParaRPr lang="en-US" sz="1050" dirty="0"/>
          </a:p>
        </p:txBody>
      </p:sp>
      <p:sp>
        <p:nvSpPr>
          <p:cNvPr id="64" name="Shape 61"/>
          <p:cNvSpPr/>
          <p:nvPr/>
        </p:nvSpPr>
        <p:spPr>
          <a:xfrm>
            <a:off x="7992770" y="2788920"/>
            <a:ext cx="219456" cy="32918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674456" y="2651760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297" y="2796601"/>
            <a:ext cx="313822" cy="313822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8239658" y="3310128"/>
            <a:ext cx="1473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分析</a:t>
            </a:r>
            <a:endParaRPr lang="en-US" sz="1300" dirty="0"/>
          </a:p>
        </p:txBody>
      </p:sp>
      <p:sp>
        <p:nvSpPr>
          <p:cNvPr id="68" name="Text 64"/>
          <p:cNvSpPr txBox="1"/>
          <p:nvPr/>
        </p:nvSpPr>
        <p:spPr>
          <a:xfrm>
            <a:off x="8239658" y="3639312"/>
            <a:ext cx="14730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来場者属性・商圏・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購買傾向を可視化</a:t>
            </a:r>
            <a:endParaRPr lang="en-US" sz="1050" dirty="0"/>
          </a:p>
        </p:txBody>
      </p:sp>
      <p:sp>
        <p:nvSpPr>
          <p:cNvPr id="69" name="Shape 65"/>
          <p:cNvSpPr/>
          <p:nvPr/>
        </p:nvSpPr>
        <p:spPr>
          <a:xfrm>
            <a:off x="9740189" y="2788920"/>
            <a:ext cx="219456" cy="32918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0421874" y="2651760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6715" y="2796601"/>
            <a:ext cx="313822" cy="313822"/>
          </a:xfrm>
          <a:prstGeom prst="rect">
            <a:avLst/>
          </a:prstGeom>
        </p:spPr>
      </p:pic>
      <p:sp>
        <p:nvSpPr>
          <p:cNvPr id="72" name="Text 67"/>
          <p:cNvSpPr txBox="1"/>
          <p:nvPr/>
        </p:nvSpPr>
        <p:spPr>
          <a:xfrm>
            <a:off x="9987077" y="3310128"/>
            <a:ext cx="1473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営業資料化</a:t>
            </a:r>
            <a:endParaRPr lang="en-US" sz="1300" dirty="0"/>
          </a:p>
        </p:txBody>
      </p:sp>
      <p:sp>
        <p:nvSpPr>
          <p:cNvPr id="73" name="Text 68"/>
          <p:cNvSpPr txBox="1"/>
          <p:nvPr/>
        </p:nvSpPr>
        <p:spPr>
          <a:xfrm>
            <a:off x="9987077" y="3639312"/>
            <a:ext cx="14730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集客課題に合わせた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提案書を作成</a:t>
            </a:r>
            <a:endParaRPr lang="en-US" sz="1050" dirty="0"/>
          </a:p>
        </p:txBody>
      </p:sp>
      <p:sp>
        <p:nvSpPr>
          <p:cNvPr id="74" name="Shape 69"/>
          <p:cNvSpPr/>
          <p:nvPr/>
        </p:nvSpPr>
        <p:spPr>
          <a:xfrm>
            <a:off x="6309360" y="4480560"/>
            <a:ext cx="5333695" cy="1783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6492240" y="4663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6629400" y="4626864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達成状況</a:t>
            </a:r>
            <a:endParaRPr lang="en-US" sz="1500" dirty="0"/>
          </a:p>
        </p:txBody>
      </p:sp>
      <p:sp>
        <p:nvSpPr>
          <p:cNvPr id="77" name="Text 72"/>
          <p:cNvSpPr txBox="1"/>
          <p:nvPr/>
        </p:nvSpPr>
        <p:spPr>
          <a:xfrm>
            <a:off x="6583680" y="4937760"/>
            <a:ext cx="2118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現状</a:t>
            </a:r>
            <a:endParaRPr lang="en-US" sz="14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 / 10件</a:t>
            </a:r>
            <a:endParaRPr lang="en-US" sz="1400" dirty="0"/>
          </a:p>
        </p:txBody>
      </p:sp>
      <p:sp>
        <p:nvSpPr>
          <p:cNvPr id="78" name="Shape 73"/>
          <p:cNvSpPr/>
          <p:nvPr/>
        </p:nvSpPr>
        <p:spPr>
          <a:xfrm>
            <a:off x="8747608" y="5367528"/>
            <a:ext cx="45720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9250528" y="4937760"/>
            <a:ext cx="2118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120%目標（＋2件）</a:t>
            </a:r>
            <a:endParaRPr lang="en-US" sz="14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 件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目標③　AIを使ったサイト提案　2件以上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AIで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企画からサイトのモックまで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を短期間で作成し、商談の場でそのままプレゼン。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提案数は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2件／目標1件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120%ラインを達成済み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。今後もIPを用いたサイト開発を継続する。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312768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385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SANRIO SCHOOL FES 特設サイト案</a:t>
            </a:r>
            <a:endParaRPr lang="en-US" sz="1500" dirty="0"/>
          </a:p>
        </p:txBody>
      </p:sp>
      <p:pic>
        <p:nvPicPr>
          <p:cNvPr id="7" name="Image 0" descr="/tmp/claude-0/-home-user-X-check/362eecfc-c7f8-5a18-96a5-4b1ea84f8807/scratchpad/img/ai_san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908" y="2697480"/>
            <a:ext cx="3908232" cy="2651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5532120"/>
            <a:ext cx="3855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サンリオ様／日本テレビ様／ドコモスタジオ&amp;ライブ様とのMTGで企画をプレゼン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44288" y="2194560"/>
            <a:ext cx="4312768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227168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64328" y="2340864"/>
            <a:ext cx="385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d ticket サイト UI改善案</a:t>
            </a:r>
            <a:endParaRPr lang="en-US" sz="1500" dirty="0"/>
          </a:p>
        </p:txBody>
      </p:sp>
      <p:pic>
        <p:nvPicPr>
          <p:cNvPr id="12" name="Image 1" descr="/tmp/claude-0/-home-user-X-check/362eecfc-c7f8-5a18-96a5-4b1ea84f8807/scratchpad/img/ai_dtic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93" y="2697480"/>
            <a:ext cx="3139757" cy="2651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72888" y="5532120"/>
            <a:ext cx="3855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イベント検索〜購入導線のUI改善案を作成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539935" y="2194560"/>
            <a:ext cx="210312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722815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859975" y="23408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達成状況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9814255" y="2788920"/>
            <a:ext cx="1554480" cy="155448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814255" y="27889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件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722815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目標1件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9768535" y="4846320"/>
            <a:ext cx="1645920" cy="4114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120% 達成済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722815" y="5394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IPを用いたサイト開発を継続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目標④　DX-ICT人材育成（中級）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data X camp の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SQL研修で大型抽出が可能に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。ディズニープラス会員の抽出、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55万ID以上の分析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を営業資料へ反映。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進捗は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50%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。120%達成に向け、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自組織実践の完了＋AI活用ナレッジ共有1件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を行う。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6949440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340864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研修で変わったこと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1920240" cy="1051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Before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大型データの抽出は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難しかった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88920" y="2788920"/>
            <a:ext cx="2286000" cy="868680"/>
          </a:xfrm>
          <a:prstGeom prst="chevro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data X camp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SQL研修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0" y="2697480"/>
            <a:ext cx="2103120" cy="10515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After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大型抽出・分析を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自分で実行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931920"/>
            <a:ext cx="3223260" cy="10332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4268419"/>
            <a:ext cx="332842" cy="33284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4041648"/>
            <a:ext cx="2217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大型抽出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43708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ディズニープラス会員の抽出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91940" y="3931920"/>
            <a:ext cx="3223260" cy="10332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2910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719" y="42684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006340" y="4041648"/>
            <a:ext cx="2217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大規模分析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006340" y="43708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55万ID以上を分析し、ヤクルト向け営業資料に反映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31520" y="5074920"/>
            <a:ext cx="3223260" cy="10332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68680" y="5257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541141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645920" y="5184648"/>
            <a:ext cx="2217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イベント分析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645920" y="55138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びわ湖大花火大会の提案データ分析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091940" y="5074920"/>
            <a:ext cx="3223260" cy="10332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29100" y="5257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2719" y="541141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06340" y="5184648"/>
            <a:ext cx="2217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ナレッジ共有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006340" y="5513832"/>
            <a:ext cx="22174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AI活用法を社内へ共有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7680960" y="2194560"/>
            <a:ext cx="3962095" cy="4069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863840" y="2377440"/>
            <a:ext cx="64008" cy="2743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8001000" y="2340864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成果と進捗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7863840" y="2697480"/>
            <a:ext cx="3596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万ID+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863840" y="3703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SQLで分析したID数（ヤクルト向け）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8001000" y="4754880"/>
            <a:ext cx="332201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001000" y="4754880"/>
            <a:ext cx="1384173" cy="2926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074152" y="47548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10769346" y="4754880"/>
            <a:ext cx="0" cy="56692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8757666" y="5321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100%：自組織実践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11323015" y="4480560"/>
            <a:ext cx="0" cy="56692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311335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120%：＋ナレッジ共有</a:t>
            </a:r>
            <a:endParaRPr lang="en-US" sz="1000" dirty="0"/>
          </a:p>
        </p:txBody>
      </p:sp>
      <p:sp>
        <p:nvSpPr>
          <p:cNvPr id="42" name="Text 36"/>
          <p:cNvSpPr txBox="1"/>
          <p:nvPr/>
        </p:nvSpPr>
        <p:spPr>
          <a:xfrm>
            <a:off x="800100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現在の進捗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アクションプラン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目標②③は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100%に到達済み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。残り半期は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①フォロワー拡大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と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④自組織実践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に注力し、全目標で120%達成を目指す。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進捗（▼＝120%ライン）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9552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120%達成に向けたアクション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350008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073" y="2494849"/>
            <a:ext cx="313822" cy="31382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1945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【マーケ】公式Xフォロワー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80人／850人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2724912"/>
            <a:ext cx="2926080" cy="2011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54880" y="2724912"/>
            <a:ext cx="229496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10800000">
            <a:off x="7607808" y="2578608"/>
            <a:ext cx="146304" cy="118872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2194560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リポスト企画3件の遂行、施策後の効果測定、投稿文チェック、運用ルールの改善。1,000人に向けCP設計を更新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218688"/>
            <a:ext cx="11094415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3374136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073" y="3518977"/>
            <a:ext cx="313822" cy="31382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463040" y="321868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【データ分析】データ活用型提案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332841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10件／10件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754880" y="3749040"/>
            <a:ext cx="2926080" cy="2011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54880" y="3749040"/>
            <a:ext cx="2438400" cy="20116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rot="10800000">
            <a:off x="7607808" y="3602736"/>
            <a:ext cx="146304" cy="118872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955280" y="3218688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SQLを用いた分析手法の磨き上げ、件数の増加。120%達成に向けプラス2件作成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48640" y="4242816"/>
            <a:ext cx="11094415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4398264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73" y="4543105"/>
            <a:ext cx="313822" cy="31382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463040" y="424281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【開発】AIサイト提案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3525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2件／1件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4754880" y="4773168"/>
            <a:ext cx="2926080" cy="2011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4754880" y="4773168"/>
            <a:ext cx="2926080" cy="20116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 rot="10800000">
            <a:off x="7607808" y="4626864"/>
            <a:ext cx="146304" cy="118872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955280" y="4242816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120%達成済み。サンリオや大型アーティスト等、IPを用いたサイト開発を継続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548640" y="5266944"/>
            <a:ext cx="11094415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542239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73" y="5567233"/>
            <a:ext cx="313822" cy="31382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463040" y="526694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【人材育成】DX-ICT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4754880" y="53766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50%</a:t>
            </a:r>
            <a:endParaRPr lang="en-US" sz="1400" dirty="0"/>
          </a:p>
        </p:txBody>
      </p:sp>
      <p:sp>
        <p:nvSpPr>
          <p:cNvPr id="38" name="Shape 32"/>
          <p:cNvSpPr/>
          <p:nvPr/>
        </p:nvSpPr>
        <p:spPr>
          <a:xfrm>
            <a:off x="4754880" y="5797296"/>
            <a:ext cx="2926080" cy="2011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4754880" y="5797296"/>
            <a:ext cx="1219200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 rot="10800000">
            <a:off x="7607808" y="5650992"/>
            <a:ext cx="146304" cy="118872"/>
          </a:xfrm>
          <a:prstGeom prst="triangl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955280" y="5266944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data X camp での自組織実践を完了、AI活用のナレッジ共有1件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スケジュール感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3Qは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興行連動の企画・提案フォロー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、4Qは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追加施策・＋2件の提案・ナレッジ共有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で120%達成まで走り切る。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94415" cy="4389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2011680"/>
            <a:ext cx="4139032" cy="27432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84568" y="2011680"/>
            <a:ext cx="4175608" cy="27432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4Q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00829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2541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892698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74410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284568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6280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676437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58149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0068306" y="2331720"/>
            <a:ext cx="1355293" cy="2743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0018" y="2670048"/>
            <a:ext cx="0" cy="35204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31520" y="2743200"/>
            <a:ext cx="2286000" cy="93268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① 公式Xフォロワー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36392" y="2798064"/>
            <a:ext cx="1318717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井上尚弥展CP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8261" y="2798064"/>
            <a:ext cx="1318717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OWV CP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20130" y="2798064"/>
            <a:ext cx="1318717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大型イベントCP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2000" y="2798064"/>
            <a:ext cx="4102456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追加施策の企画・実施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36392" y="3300984"/>
            <a:ext cx="8278063" cy="32004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効果測定・投稿文チェック・運用ルール改善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22192"/>
            <a:ext cx="2286000" cy="93268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② データ活用型提案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136392" y="3877056"/>
            <a:ext cx="4102456" cy="32004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提案済10件のフォロー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2000" y="3877056"/>
            <a:ext cx="4102456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＋2件 作成（12件へ）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36392" y="4379976"/>
            <a:ext cx="8278063" cy="32004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SQL分析手法の磨き上げ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4901184"/>
            <a:ext cx="2286000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③ AIサイト提案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36392" y="4956048"/>
            <a:ext cx="8278063" cy="32004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IPサイト開発の継続（サンリオ・大型アーティスト等）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5477256"/>
            <a:ext cx="2286000" cy="429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④ DX-ICT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36392" y="5532120"/>
            <a:ext cx="5494325" cy="32004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data X camp 自組織実践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03869" y="5532120"/>
            <a:ext cx="2710586" cy="3200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AIナレッジ共有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108960" y="5897880"/>
            <a:ext cx="8351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■赤：マイルストーン（企画・成果物）　□白：継続タスク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1463040" y="329184"/>
            <a:ext cx="8778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まとめ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86868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wrap="square" lIns="50800" tIns="177800" rIns="177800" bIns="508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集客 × データ × AI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で d ticket の成長を加速させるため、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4つの個人目標すべてで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120%達成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を宣言します。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2636444" cy="3977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5382" y="25146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2892" y="271211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447288"/>
            <a:ext cx="263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目標①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721608"/>
            <a:ext cx="23621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公式Xのフォロワー拡大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26364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80人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83982" y="4727448"/>
            <a:ext cx="365760" cy="292608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5120640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1,000人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3367964" y="2240280"/>
            <a:ext cx="2636444" cy="3977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74706" y="25146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216" y="2712110"/>
            <a:ext cx="427939" cy="4279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367964" y="3447288"/>
            <a:ext cx="263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目標②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505124" y="3721608"/>
            <a:ext cx="23621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データ活用型提案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3367964" y="4251960"/>
            <a:ext cx="26364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10件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503306" y="4727448"/>
            <a:ext cx="365760" cy="292608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550844" y="5120640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12件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>
            <a:off x="6187288" y="2240280"/>
            <a:ext cx="2636444" cy="3977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94030" y="25146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540" y="2712110"/>
            <a:ext cx="427939" cy="4279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187288" y="3447288"/>
            <a:ext cx="263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目標③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6324448" y="3721608"/>
            <a:ext cx="23621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AIを使ったサイト提案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6187288" y="4251960"/>
            <a:ext cx="26364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2件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7322630" y="4727448"/>
            <a:ext cx="365760" cy="292608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70168" y="5120640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2件以上</a:t>
            </a:r>
            <a:endParaRPr lang="en-US" sz="2400" dirty="0"/>
          </a:p>
        </p:txBody>
      </p:sp>
      <p:sp>
        <p:nvSpPr>
          <p:cNvPr id="28" name="Shape 23"/>
          <p:cNvSpPr/>
          <p:nvPr/>
        </p:nvSpPr>
        <p:spPr>
          <a:xfrm>
            <a:off x="9006611" y="2240280"/>
            <a:ext cx="2636444" cy="3977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0864" y="2712110"/>
            <a:ext cx="427939" cy="427939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006611" y="3447288"/>
            <a:ext cx="263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目標④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9143771" y="3721608"/>
            <a:ext cx="23621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DX-ICT中級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006611" y="4251960"/>
            <a:ext cx="26364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50%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10141953" y="4727448"/>
            <a:ext cx="365760" cy="292608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9189491" y="5120640"/>
            <a:ext cx="2270684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自組織実践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＋ナレッジ共有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475488"/>
            <a:ext cx="640080" cy="34747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 PF Docomo Red">
  <a:themeElements>
    <a:clrScheme name="EP PF Docomo Red">
      <a:dk1>
        <a:srgbClr val="222222"/>
      </a:dk1>
      <a:lt1>
        <a:srgbClr val="FFFFFF"/>
      </a:lt1>
      <a:dk2>
        <a:srgbClr val="444444"/>
      </a:dk2>
      <a:lt2>
        <a:srgbClr val="FAFAFA"/>
      </a:lt2>
      <a:accent1>
        <a:srgbClr val="CC0033"/>
      </a:accent1>
      <a:accent2>
        <a:srgbClr val="A31D2B"/>
      </a:accent2>
      <a:accent3>
        <a:srgbClr val="777777"/>
      </a:accent3>
      <a:accent4>
        <a:srgbClr val="D4D4D4"/>
      </a:accent4>
      <a:accent5>
        <a:srgbClr val="B5B5B5"/>
      </a:accent5>
      <a:accent6>
        <a:srgbClr val="F2F2F2"/>
      </a:accent6>
      <a:hlink>
        <a:srgbClr val="CC0033"/>
      </a:hlink>
      <a:folHlink>
        <a:srgbClr val="A31D2B"/>
      </a:folHlink>
    </a:clrScheme>
    <a:fontScheme name="EP PF Docomo Red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目標宣言資料</dc:title>
  <dc:subject>PptxGenJS Presentation</dc:subject>
  <dc:creator>EP部 PF推進 室谷佳汰</dc:creator>
  <cp:lastModifiedBy>EP部 PF推進 室谷佳汰</cp:lastModifiedBy>
  <cp:revision>1</cp:revision>
  <dcterms:created xsi:type="dcterms:W3CDTF">2026-10-07T12:50:03Z</dcterms:created>
  <dcterms:modified xsi:type="dcterms:W3CDTF">2026-10-07T12:50:03Z</dcterms:modified>
</cp:coreProperties>
</file>